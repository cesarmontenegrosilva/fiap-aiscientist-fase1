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52560" y="146304"/>
            <a:ext cx="3136392" cy="6711696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8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587752"/>
            <a:ext cx="7040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Case NPS </a:t>
            </a:r>
            <a:r>
              <a:rPr dirty="0" err="1"/>
              <a:t>Preditivo</a:t>
            </a:r>
            <a:endParaRPr dirty="0"/>
          </a:p>
          <a:p>
            <a:pPr>
              <a:defRPr sz="2000" b="0">
                <a:solidFill>
                  <a:srgbClr val="E1E8EF"/>
                </a:solidFill>
                <a:latin typeface="Aptos"/>
              </a:defRPr>
            </a:pPr>
            <a:r>
              <a:rPr dirty="0" err="1"/>
              <a:t>Apresentação</a:t>
            </a:r>
            <a:r>
              <a:rPr dirty="0"/>
              <a:t> </a:t>
            </a:r>
            <a:r>
              <a:rPr dirty="0" err="1"/>
              <a:t>executiva</a:t>
            </a:r>
            <a:r>
              <a:rPr dirty="0"/>
              <a:t> para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donos</a:t>
            </a:r>
            <a:r>
              <a:rPr dirty="0"/>
              <a:t> do </a:t>
            </a:r>
            <a:r>
              <a:rPr dirty="0" err="1"/>
              <a:t>negócio</a:t>
            </a:r>
            <a:endParaRPr dirty="0"/>
          </a:p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r>
              <a:rPr dirty="0"/>
              <a:t>Como </a:t>
            </a:r>
            <a:r>
              <a:rPr dirty="0" err="1"/>
              <a:t>transformar</a:t>
            </a:r>
            <a:r>
              <a:rPr dirty="0"/>
              <a:t> dados </a:t>
            </a:r>
            <a:r>
              <a:rPr dirty="0" err="1"/>
              <a:t>operacionais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ações</a:t>
            </a:r>
            <a:r>
              <a:rPr dirty="0"/>
              <a:t> para </a:t>
            </a:r>
            <a:r>
              <a:rPr dirty="0" err="1"/>
              <a:t>reduzir</a:t>
            </a:r>
            <a:r>
              <a:rPr dirty="0"/>
              <a:t> </a:t>
            </a:r>
            <a:r>
              <a:rPr dirty="0" err="1"/>
              <a:t>detratores</a:t>
            </a:r>
            <a:r>
              <a:rPr dirty="0"/>
              <a:t> e </a:t>
            </a:r>
            <a:r>
              <a:rPr dirty="0" err="1"/>
              <a:t>aumentar</a:t>
            </a:r>
            <a:r>
              <a:rPr dirty="0"/>
              <a:t> </a:t>
            </a:r>
            <a:r>
              <a:rPr dirty="0" err="1"/>
              <a:t>promotores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9372600" y="109728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82328" y="1170432"/>
            <a:ext cx="1975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rPr dirty="0"/>
              <a:t>Base </a:t>
            </a:r>
            <a:r>
              <a:rPr dirty="0" err="1"/>
              <a:t>analisada</a:t>
            </a:r>
            <a:endParaRPr lang="pt-BR" dirty="0"/>
          </a:p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endParaRPr dirty="0"/>
          </a:p>
          <a:p>
            <a:pPr>
              <a:defRPr sz="2000" b="1">
                <a:solidFill>
                  <a:srgbClr val="2A9D8F"/>
                </a:solidFill>
                <a:latin typeface="Aptos"/>
              </a:defRPr>
            </a:pPr>
            <a:r>
              <a:rPr sz="1600" dirty="0"/>
              <a:t>2.500 </a:t>
            </a:r>
            <a:r>
              <a:rPr sz="1600" dirty="0" err="1"/>
              <a:t>pedidos</a:t>
            </a:r>
            <a:endParaRPr sz="1600" dirty="0"/>
          </a:p>
        </p:txBody>
      </p:sp>
      <p:sp>
        <p:nvSpPr>
          <p:cNvPr id="8" name="Rounded Rectangle 7"/>
          <p:cNvSpPr/>
          <p:nvPr/>
        </p:nvSpPr>
        <p:spPr>
          <a:xfrm>
            <a:off x="9372600" y="2377439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82328" y="2450591"/>
            <a:ext cx="197510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rPr dirty="0" err="1"/>
              <a:t>Pergunta</a:t>
            </a:r>
            <a:r>
              <a:rPr dirty="0"/>
              <a:t> central</a:t>
            </a:r>
            <a:endParaRPr lang="pt-BR" dirty="0"/>
          </a:p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endParaRPr dirty="0"/>
          </a:p>
          <a:p>
            <a:pPr>
              <a:defRPr sz="2000" b="1">
                <a:solidFill>
                  <a:srgbClr val="F4A261"/>
                </a:solidFill>
                <a:latin typeface="Aptos"/>
              </a:defRPr>
            </a:pPr>
            <a:r>
              <a:rPr sz="1600" dirty="0"/>
              <a:t>O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gera</a:t>
            </a:r>
            <a:r>
              <a:rPr sz="1600" dirty="0"/>
              <a:t> </a:t>
            </a:r>
            <a:r>
              <a:rPr sz="1600" dirty="0" err="1"/>
              <a:t>detratores</a:t>
            </a:r>
            <a:r>
              <a:rPr sz="1600" dirty="0"/>
              <a:t>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3657600"/>
            <a:ext cx="21945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82328" y="3730752"/>
            <a:ext cx="197510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rPr dirty="0" err="1"/>
              <a:t>Saída</a:t>
            </a:r>
            <a:r>
              <a:rPr dirty="0"/>
              <a:t> </a:t>
            </a:r>
            <a:r>
              <a:rPr dirty="0" err="1"/>
              <a:t>esperada</a:t>
            </a:r>
            <a:endParaRPr lang="pt-BR" dirty="0"/>
          </a:p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endParaRPr dirty="0"/>
          </a:p>
          <a:p>
            <a:pPr>
              <a:defRPr sz="2000" b="1">
                <a:solidFill>
                  <a:srgbClr val="4CAF50"/>
                </a:solidFill>
                <a:latin typeface="Aptos"/>
              </a:defRPr>
            </a:pPr>
            <a:r>
              <a:rPr sz="1600" dirty="0" err="1"/>
              <a:t>Recomendações</a:t>
            </a:r>
            <a:r>
              <a:rPr sz="1600" dirty="0"/>
              <a:t> </a:t>
            </a:r>
            <a:r>
              <a:rPr sz="1600" dirty="0" err="1"/>
              <a:t>priorizadas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6355080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CE6F0"/>
                </a:solidFill>
                <a:latin typeface="Aptos"/>
              </a:defRPr>
            </a:pPr>
            <a:r>
              <a:t>Augusto Silva | Cientista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537960"/>
            <a:ext cx="6858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B4BECD"/>
                </a:solidFill>
                <a:latin typeface="Aptos"/>
              </a:defRPr>
            </a:pPr>
            <a:r>
              <a:t>Case NPS Preditivo • versão executiva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1. Resumo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1440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987552"/>
            <a:ext cx="334670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Diagnóstico</a:t>
            </a:r>
          </a:p>
          <a:p>
            <a:pPr>
              <a:defRPr sz="2000" b="1">
                <a:solidFill>
                  <a:srgbClr val="D74C4C"/>
                </a:solidFill>
                <a:latin typeface="Aptos"/>
              </a:defRPr>
            </a:pPr>
            <a:r>
              <a:t>NPS atual é crítico: 84,4% de detratores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91440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25696" y="987552"/>
            <a:ext cx="334670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Principal causa</a:t>
            </a:r>
          </a:p>
          <a:p>
            <a:pPr>
              <a:defRPr sz="2000" b="1">
                <a:solidFill>
                  <a:srgbClr val="F4A261"/>
                </a:solidFill>
                <a:latin typeface="Aptos"/>
              </a:defRPr>
            </a:pPr>
            <a:r>
              <a:t>Atraso de entrega é o maior destruidor de satisfação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5" y="91440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47303" y="987552"/>
            <a:ext cx="334670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Ação mais valiosa</a:t>
            </a:r>
          </a:p>
          <a:p>
            <a:pPr>
              <a:defRPr sz="2000" b="1">
                <a:solidFill>
                  <a:srgbClr val="4CAF50"/>
                </a:solidFill>
                <a:latin typeface="Aptos"/>
              </a:defRPr>
            </a:pPr>
            <a:r>
              <a:t>Intervenção preventiva em pedidos de risco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240280"/>
            <a:ext cx="3474720" cy="3566160"/>
          </a:xfrm>
          <a:prstGeom prst="roundRect">
            <a:avLst/>
          </a:prstGeom>
          <a:solidFill>
            <a:srgbClr val="F7F9FC"/>
          </a:solidFill>
          <a:ln>
            <a:solidFill>
              <a:srgbClr val="D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2331720"/>
            <a:ext cx="32186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endParaRPr lang="pt-BR" sz="1400" dirty="0"/>
          </a:p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endParaRPr lang="pt-BR" sz="1400" dirty="0"/>
          </a:p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endParaRPr lang="pt-BR" sz="1400" dirty="0"/>
          </a:p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r>
              <a:rPr sz="1400" dirty="0" err="1"/>
              <a:t>Mensagem</a:t>
            </a:r>
            <a:r>
              <a:rPr sz="1400" dirty="0"/>
              <a:t> 1</a:t>
            </a:r>
            <a:endParaRPr lang="pt-BR" sz="1400" dirty="0"/>
          </a:p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O </a:t>
            </a:r>
            <a:r>
              <a:rPr sz="1400" dirty="0" err="1"/>
              <a:t>negócio</a:t>
            </a:r>
            <a:r>
              <a:rPr sz="1400" dirty="0"/>
              <a:t> </a:t>
            </a:r>
            <a:r>
              <a:rPr sz="1400" dirty="0" err="1"/>
              <a:t>está</a:t>
            </a:r>
            <a:r>
              <a:rPr sz="1400" dirty="0"/>
              <a:t> operando com </a:t>
            </a:r>
            <a:r>
              <a:rPr sz="1400" dirty="0" err="1"/>
              <a:t>uma</a:t>
            </a:r>
            <a:r>
              <a:rPr sz="1400" dirty="0"/>
              <a:t> base </a:t>
            </a:r>
            <a:r>
              <a:rPr sz="1400" dirty="0" err="1"/>
              <a:t>muito</a:t>
            </a:r>
            <a:r>
              <a:rPr sz="1400" dirty="0"/>
              <a:t> </a:t>
            </a:r>
            <a:r>
              <a:rPr sz="1400" dirty="0" err="1"/>
              <a:t>concentrada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detratores</a:t>
            </a:r>
            <a:r>
              <a:rPr sz="1400" dirty="0"/>
              <a:t>, o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pressiona</a:t>
            </a:r>
            <a:r>
              <a:rPr sz="1400" dirty="0"/>
              <a:t> </a:t>
            </a:r>
            <a:r>
              <a:rPr sz="1400" dirty="0" err="1"/>
              <a:t>retenção</a:t>
            </a:r>
            <a:r>
              <a:rPr sz="1400" dirty="0"/>
              <a:t>, </a:t>
            </a:r>
            <a:r>
              <a:rPr sz="1400" dirty="0" err="1"/>
              <a:t>recompra</a:t>
            </a:r>
            <a:r>
              <a:rPr sz="1400" dirty="0"/>
              <a:t> e </a:t>
            </a:r>
            <a:r>
              <a:rPr sz="1400" dirty="0" err="1"/>
              <a:t>reputação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Isso</a:t>
            </a:r>
            <a:r>
              <a:rPr sz="1400" dirty="0"/>
              <a:t> indica </a:t>
            </a:r>
            <a:r>
              <a:rPr sz="1400" dirty="0" err="1"/>
              <a:t>oportunidade</a:t>
            </a:r>
            <a:r>
              <a:rPr sz="1400" dirty="0"/>
              <a:t> </a:t>
            </a:r>
            <a:r>
              <a:rPr sz="1400" dirty="0" err="1"/>
              <a:t>relevante</a:t>
            </a:r>
            <a:r>
              <a:rPr sz="1400" dirty="0"/>
              <a:t> de </a:t>
            </a:r>
            <a:r>
              <a:rPr sz="1400" dirty="0" err="1"/>
              <a:t>captura</a:t>
            </a:r>
            <a:r>
              <a:rPr sz="1400" dirty="0"/>
              <a:t> de valor via </a:t>
            </a:r>
            <a:r>
              <a:rPr sz="1400" dirty="0" err="1"/>
              <a:t>melhoria</a:t>
            </a:r>
            <a:r>
              <a:rPr sz="1400" dirty="0"/>
              <a:t> </a:t>
            </a:r>
            <a:r>
              <a:rPr sz="1400" dirty="0" err="1"/>
              <a:t>operacional</a:t>
            </a:r>
            <a:r>
              <a:rPr sz="1400"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240280"/>
            <a:ext cx="3474720" cy="3566160"/>
          </a:xfrm>
          <a:prstGeom prst="roundRect">
            <a:avLst/>
          </a:prstGeom>
          <a:solidFill>
            <a:srgbClr val="F7F9FC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71416" y="2331720"/>
            <a:ext cx="321868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endParaRPr lang="pt-BR" sz="1400" dirty="0"/>
          </a:p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endParaRPr lang="pt-BR" sz="1400" dirty="0"/>
          </a:p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endParaRPr lang="pt-BR" sz="1400" dirty="0"/>
          </a:p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r>
              <a:rPr sz="1400" dirty="0" err="1"/>
              <a:t>Mensagem</a:t>
            </a:r>
            <a:r>
              <a:rPr sz="1400" dirty="0"/>
              <a:t> 2</a:t>
            </a:r>
            <a:endParaRPr lang="pt-BR" sz="1400" dirty="0"/>
          </a:p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O </a:t>
            </a:r>
            <a:r>
              <a:rPr sz="1400" dirty="0" err="1"/>
              <a:t>ponto</a:t>
            </a:r>
            <a:r>
              <a:rPr sz="1400" dirty="0"/>
              <a:t> de </a:t>
            </a:r>
            <a:r>
              <a:rPr sz="1400" dirty="0" err="1"/>
              <a:t>ruptura</a:t>
            </a:r>
            <a:r>
              <a:rPr sz="1400" dirty="0"/>
              <a:t> </a:t>
            </a:r>
            <a:r>
              <a:rPr sz="1400" dirty="0" err="1"/>
              <a:t>está</a:t>
            </a:r>
            <a:r>
              <a:rPr sz="1400" dirty="0"/>
              <a:t> entre 2 e 3 </a:t>
            </a:r>
            <a:r>
              <a:rPr sz="1400" dirty="0" err="1"/>
              <a:t>dias</a:t>
            </a:r>
            <a:r>
              <a:rPr sz="1400" dirty="0"/>
              <a:t> de </a:t>
            </a:r>
            <a:r>
              <a:rPr sz="1400" dirty="0" err="1"/>
              <a:t>atraso</a:t>
            </a:r>
            <a:r>
              <a:rPr sz="1400" dirty="0"/>
              <a:t>: </a:t>
            </a:r>
            <a:r>
              <a:rPr sz="1400" dirty="0" err="1"/>
              <a:t>acima</a:t>
            </a:r>
            <a:r>
              <a:rPr sz="1400" dirty="0"/>
              <a:t> </a:t>
            </a:r>
            <a:r>
              <a:rPr sz="1400" dirty="0" err="1"/>
              <a:t>disso</a:t>
            </a:r>
            <a:r>
              <a:rPr sz="1400" dirty="0"/>
              <a:t>, a chance de </a:t>
            </a:r>
            <a:r>
              <a:rPr sz="1400" dirty="0" err="1"/>
              <a:t>detrator</a:t>
            </a:r>
            <a:r>
              <a:rPr sz="1400" dirty="0"/>
              <a:t> se </a:t>
            </a:r>
            <a:r>
              <a:rPr sz="1400" dirty="0" err="1"/>
              <a:t>torna</a:t>
            </a:r>
            <a:r>
              <a:rPr sz="1400" dirty="0"/>
              <a:t> </a:t>
            </a:r>
            <a:r>
              <a:rPr sz="1400" dirty="0" err="1"/>
              <a:t>dominante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Reclamações</a:t>
            </a:r>
            <a:r>
              <a:rPr sz="1400" dirty="0"/>
              <a:t> e </a:t>
            </a:r>
            <a:r>
              <a:rPr sz="1400" dirty="0" err="1"/>
              <a:t>múltiplos</a:t>
            </a:r>
            <a:r>
              <a:rPr sz="1400" dirty="0"/>
              <a:t> </a:t>
            </a:r>
            <a:r>
              <a:rPr sz="1400" dirty="0" err="1"/>
              <a:t>contatos</a:t>
            </a:r>
            <a:r>
              <a:rPr sz="1400" dirty="0"/>
              <a:t> com o </a:t>
            </a:r>
            <a:r>
              <a:rPr sz="1400" dirty="0" err="1"/>
              <a:t>atendimento</a:t>
            </a:r>
            <a:r>
              <a:rPr sz="1400" dirty="0"/>
              <a:t> </a:t>
            </a:r>
            <a:r>
              <a:rPr sz="1400" dirty="0" err="1"/>
              <a:t>amplificam</a:t>
            </a:r>
            <a:r>
              <a:rPr sz="1400" dirty="0"/>
              <a:t> a </a:t>
            </a:r>
            <a:r>
              <a:rPr sz="1400" dirty="0" err="1"/>
              <a:t>queda</a:t>
            </a:r>
            <a:r>
              <a:rPr sz="1400" dirty="0"/>
              <a:t> do NPS.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2240280"/>
            <a:ext cx="3474720" cy="3566160"/>
          </a:xfrm>
          <a:prstGeom prst="roundRect">
            <a:avLst/>
          </a:prstGeom>
          <a:solidFill>
            <a:srgbClr val="F7F9FC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83295" y="2331720"/>
            <a:ext cx="321868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endParaRPr lang="pt-BR" sz="1400" dirty="0"/>
          </a:p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endParaRPr lang="pt-BR" sz="1400" dirty="0"/>
          </a:p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endParaRPr lang="pt-BR" sz="1400" dirty="0"/>
          </a:p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r>
              <a:rPr sz="1400" dirty="0" err="1"/>
              <a:t>Mensagem</a:t>
            </a:r>
            <a:r>
              <a:rPr sz="1400" dirty="0"/>
              <a:t> 3</a:t>
            </a:r>
            <a:endParaRPr lang="pt-BR" sz="1400" dirty="0"/>
          </a:p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Os</a:t>
            </a:r>
            <a:r>
              <a:rPr sz="1400" dirty="0"/>
              <a:t> </a:t>
            </a:r>
            <a:r>
              <a:rPr sz="1400" dirty="0" err="1"/>
              <a:t>modelos</a:t>
            </a:r>
            <a:r>
              <a:rPr sz="1400" dirty="0"/>
              <a:t> </a:t>
            </a:r>
            <a:r>
              <a:rPr sz="1400" dirty="0" err="1"/>
              <a:t>preditivos</a:t>
            </a:r>
            <a:r>
              <a:rPr sz="1400" dirty="0"/>
              <a:t> </a:t>
            </a:r>
            <a:r>
              <a:rPr sz="1400" dirty="0" err="1"/>
              <a:t>mostram</a:t>
            </a:r>
            <a:r>
              <a:rPr sz="1400" dirty="0"/>
              <a:t>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já</a:t>
            </a:r>
            <a:r>
              <a:rPr sz="1400" dirty="0"/>
              <a:t> é </a:t>
            </a:r>
            <a:r>
              <a:rPr sz="1400" dirty="0" err="1"/>
              <a:t>possível</a:t>
            </a:r>
            <a:r>
              <a:rPr sz="1400" dirty="0"/>
              <a:t> </a:t>
            </a:r>
            <a:r>
              <a:rPr sz="1400" dirty="0" err="1"/>
              <a:t>priorizar</a:t>
            </a:r>
            <a:r>
              <a:rPr sz="1400" dirty="0"/>
              <a:t> </a:t>
            </a:r>
            <a:r>
              <a:rPr sz="1400" dirty="0" err="1"/>
              <a:t>clientes</a:t>
            </a:r>
            <a:r>
              <a:rPr sz="1400" dirty="0"/>
              <a:t>/</a:t>
            </a:r>
            <a:r>
              <a:rPr sz="1400" dirty="0" err="1"/>
              <a:t>pedidos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risco</a:t>
            </a:r>
            <a:r>
              <a:rPr sz="1400" dirty="0"/>
              <a:t> antes da </a:t>
            </a:r>
            <a:r>
              <a:rPr sz="1400" dirty="0" err="1"/>
              <a:t>pesquisa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A </a:t>
            </a:r>
            <a:r>
              <a:rPr sz="1400" dirty="0" err="1"/>
              <a:t>recomendação</a:t>
            </a:r>
            <a:r>
              <a:rPr sz="1400" dirty="0"/>
              <a:t> é </a:t>
            </a:r>
            <a:r>
              <a:rPr sz="1400" dirty="0" err="1"/>
              <a:t>operacionalizar</a:t>
            </a:r>
            <a:r>
              <a:rPr sz="1400" dirty="0"/>
              <a:t> um score de </a:t>
            </a:r>
            <a:r>
              <a:rPr sz="1400" dirty="0" err="1"/>
              <a:t>risco</a:t>
            </a:r>
            <a:r>
              <a:rPr sz="1400" dirty="0"/>
              <a:t> para </a:t>
            </a:r>
            <a:r>
              <a:rPr sz="1400" dirty="0" err="1"/>
              <a:t>acionar</a:t>
            </a:r>
            <a:r>
              <a:rPr sz="1400" dirty="0"/>
              <a:t> </a:t>
            </a:r>
            <a:r>
              <a:rPr sz="1400" dirty="0" err="1"/>
              <a:t>logística</a:t>
            </a:r>
            <a:r>
              <a:rPr sz="1400" dirty="0"/>
              <a:t>, </a:t>
            </a:r>
            <a:r>
              <a:rPr sz="1400" dirty="0" err="1"/>
              <a:t>atendimento</a:t>
            </a:r>
            <a:r>
              <a:rPr sz="1400" dirty="0"/>
              <a:t> e CRM.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2. O que estamos tentando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473364"/>
            <a:ext cx="3657600" cy="3911272"/>
          </a:xfrm>
          <a:prstGeom prst="roundRect">
            <a:avLst/>
          </a:prstGeom>
          <a:solidFill>
            <a:srgbClr val="F7F9FC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996477"/>
            <a:ext cx="3401568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15A77"/>
                </a:solidFill>
                <a:latin typeface="Aptos"/>
              </a:defRPr>
            </a:pP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negócio</a:t>
            </a:r>
            <a:endParaRPr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Hoje</a:t>
            </a:r>
            <a:r>
              <a:rPr sz="1400" dirty="0"/>
              <a:t> o NPS é lido de forma </a:t>
            </a:r>
            <a:r>
              <a:rPr sz="1400" dirty="0" err="1"/>
              <a:t>reativa</a:t>
            </a:r>
            <a:r>
              <a:rPr sz="1400" dirty="0"/>
              <a:t>: a </a:t>
            </a:r>
            <a:r>
              <a:rPr sz="1400" dirty="0" err="1"/>
              <a:t>empresa</a:t>
            </a:r>
            <a:r>
              <a:rPr sz="1400" dirty="0"/>
              <a:t> </a:t>
            </a:r>
            <a:r>
              <a:rPr sz="1400" dirty="0" err="1"/>
              <a:t>descobre</a:t>
            </a:r>
            <a:r>
              <a:rPr sz="1400" dirty="0"/>
              <a:t> o </a:t>
            </a:r>
            <a:r>
              <a:rPr sz="1400" dirty="0" err="1"/>
              <a:t>problema</a:t>
            </a:r>
            <a:r>
              <a:rPr sz="1400" dirty="0"/>
              <a:t> </a:t>
            </a:r>
            <a:r>
              <a:rPr sz="1400" dirty="0" err="1"/>
              <a:t>quando</a:t>
            </a:r>
            <a:r>
              <a:rPr sz="1400" dirty="0"/>
              <a:t> a </a:t>
            </a:r>
            <a:r>
              <a:rPr sz="1400" dirty="0" err="1"/>
              <a:t>má</a:t>
            </a:r>
            <a:r>
              <a:rPr sz="1400" dirty="0"/>
              <a:t> </a:t>
            </a:r>
            <a:r>
              <a:rPr sz="1400" dirty="0" err="1"/>
              <a:t>experiência</a:t>
            </a:r>
            <a:r>
              <a:rPr sz="1400" dirty="0"/>
              <a:t> </a:t>
            </a:r>
            <a:r>
              <a:rPr sz="1400" dirty="0" err="1"/>
              <a:t>já</a:t>
            </a:r>
            <a:r>
              <a:rPr sz="1400" dirty="0"/>
              <a:t> </a:t>
            </a:r>
            <a:r>
              <a:rPr sz="1400" dirty="0" err="1"/>
              <a:t>aconteceu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O </a:t>
            </a:r>
            <a:r>
              <a:rPr sz="1400" dirty="0" err="1"/>
              <a:t>objetivo</a:t>
            </a:r>
            <a:r>
              <a:rPr sz="1400" dirty="0"/>
              <a:t> é </a:t>
            </a:r>
            <a:r>
              <a:rPr sz="1400" dirty="0" err="1"/>
              <a:t>antecipar</a:t>
            </a:r>
            <a:r>
              <a:rPr sz="1400" dirty="0"/>
              <a:t> quais </a:t>
            </a:r>
            <a:r>
              <a:rPr sz="1400" dirty="0" err="1"/>
              <a:t>sinais</a:t>
            </a:r>
            <a:r>
              <a:rPr sz="1400" dirty="0"/>
              <a:t> </a:t>
            </a:r>
            <a:r>
              <a:rPr sz="1400" dirty="0" err="1"/>
              <a:t>operacionais</a:t>
            </a:r>
            <a:r>
              <a:rPr sz="1400" dirty="0"/>
              <a:t> </a:t>
            </a:r>
            <a:r>
              <a:rPr sz="1400" dirty="0" err="1"/>
              <a:t>transformam</a:t>
            </a:r>
            <a:r>
              <a:rPr sz="1400" dirty="0"/>
              <a:t> </a:t>
            </a:r>
            <a:r>
              <a:rPr sz="1400" dirty="0" err="1"/>
              <a:t>clientes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detratores</a:t>
            </a:r>
            <a:r>
              <a:rPr sz="1400" dirty="0"/>
              <a:t> e </a:t>
            </a:r>
            <a:r>
              <a:rPr sz="1400" dirty="0" err="1"/>
              <a:t>agir</a:t>
            </a:r>
            <a:r>
              <a:rPr sz="1400" dirty="0"/>
              <a:t> antes da </a:t>
            </a:r>
            <a:r>
              <a:rPr sz="1400" dirty="0" err="1"/>
              <a:t>pesquisa</a:t>
            </a:r>
            <a:r>
              <a:rPr sz="1400" dirty="0"/>
              <a:t> ser </a:t>
            </a:r>
            <a:r>
              <a:rPr sz="1400" dirty="0" err="1"/>
              <a:t>respondida</a:t>
            </a:r>
            <a:r>
              <a:rPr sz="14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73364"/>
            <a:ext cx="3337560" cy="3911272"/>
          </a:xfrm>
          <a:prstGeom prst="roundRect">
            <a:avLst/>
          </a:prstGeom>
          <a:solidFill>
            <a:srgbClr val="F7F9FC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1890189"/>
            <a:ext cx="3081528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9D8F"/>
                </a:solidFill>
                <a:latin typeface="Aptos"/>
              </a:defRPr>
            </a:pPr>
            <a:r>
              <a:rPr dirty="0"/>
              <a:t>Impacto para a </a:t>
            </a:r>
            <a:r>
              <a:rPr dirty="0" err="1"/>
              <a:t>empresa</a:t>
            </a:r>
            <a:endParaRPr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Maior </a:t>
            </a:r>
            <a:r>
              <a:rPr sz="1400" dirty="0" err="1"/>
              <a:t>retenção</a:t>
            </a:r>
            <a:r>
              <a:rPr sz="1400" dirty="0"/>
              <a:t> e </a:t>
            </a:r>
            <a:r>
              <a:rPr sz="1400" dirty="0" err="1"/>
              <a:t>recompra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Menor </a:t>
            </a:r>
            <a:r>
              <a:rPr sz="1400" dirty="0" err="1"/>
              <a:t>desgaste</a:t>
            </a:r>
            <a:r>
              <a:rPr sz="1400" dirty="0"/>
              <a:t> da </a:t>
            </a:r>
            <a:r>
              <a:rPr sz="1400" dirty="0" err="1"/>
              <a:t>marca</a:t>
            </a:r>
            <a:r>
              <a:rPr sz="1400" dirty="0"/>
              <a:t> e do boca a boca.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Redução</a:t>
            </a:r>
            <a:r>
              <a:rPr sz="1400" dirty="0"/>
              <a:t> de </a:t>
            </a:r>
            <a:r>
              <a:rPr sz="1400" dirty="0" err="1"/>
              <a:t>custo</a:t>
            </a:r>
            <a:r>
              <a:rPr sz="1400" dirty="0"/>
              <a:t> de </a:t>
            </a:r>
            <a:r>
              <a:rPr sz="1400" dirty="0" err="1"/>
              <a:t>servir</a:t>
            </a:r>
            <a:r>
              <a:rPr sz="1400" dirty="0"/>
              <a:t>, via </a:t>
            </a:r>
            <a:r>
              <a:rPr sz="1400" dirty="0" err="1"/>
              <a:t>menos</a:t>
            </a:r>
            <a:r>
              <a:rPr sz="1400" dirty="0"/>
              <a:t> </a:t>
            </a:r>
            <a:r>
              <a:rPr sz="1400" dirty="0" err="1"/>
              <a:t>reclamações</a:t>
            </a:r>
            <a:r>
              <a:rPr sz="1400" dirty="0"/>
              <a:t> e </a:t>
            </a:r>
            <a:r>
              <a:rPr sz="1400" dirty="0" err="1"/>
              <a:t>retrabalho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Melhor</a:t>
            </a:r>
            <a:r>
              <a:rPr sz="1400" dirty="0"/>
              <a:t> </a:t>
            </a:r>
            <a:r>
              <a:rPr sz="1400" dirty="0" err="1"/>
              <a:t>priorização</a:t>
            </a:r>
            <a:r>
              <a:rPr sz="1400" dirty="0"/>
              <a:t> de equipes </a:t>
            </a:r>
            <a:r>
              <a:rPr sz="1400" dirty="0" err="1"/>
              <a:t>operacionais</a:t>
            </a:r>
            <a:r>
              <a:rPr sz="14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73364"/>
            <a:ext cx="3611880" cy="3911272"/>
          </a:xfrm>
          <a:prstGeom prst="roundRect">
            <a:avLst/>
          </a:prstGeom>
          <a:solidFill>
            <a:srgbClr val="F7F9FC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83295" y="1897638"/>
            <a:ext cx="3355848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r>
              <a:rPr dirty="0"/>
              <a:t>Como responder a </a:t>
            </a:r>
            <a:r>
              <a:rPr dirty="0" err="1"/>
              <a:t>isso</a:t>
            </a:r>
            <a:endParaRPr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Exploração</a:t>
            </a:r>
            <a:r>
              <a:rPr sz="1400" dirty="0"/>
              <a:t> dos dados para </a:t>
            </a:r>
            <a:r>
              <a:rPr sz="1400" dirty="0" err="1"/>
              <a:t>identificar</a:t>
            </a:r>
            <a:r>
              <a:rPr sz="1400" dirty="0"/>
              <a:t> drivers de </a:t>
            </a:r>
            <a:r>
              <a:rPr sz="1400" dirty="0" err="1"/>
              <a:t>satisfação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Modelagem</a:t>
            </a:r>
            <a:r>
              <a:rPr sz="1400" dirty="0"/>
              <a:t> </a:t>
            </a:r>
            <a:r>
              <a:rPr sz="1400" dirty="0" err="1"/>
              <a:t>preditiva</a:t>
            </a:r>
            <a:r>
              <a:rPr sz="1400" dirty="0"/>
              <a:t> para </a:t>
            </a:r>
            <a:r>
              <a:rPr sz="1400" dirty="0" err="1"/>
              <a:t>estimar</a:t>
            </a:r>
            <a:r>
              <a:rPr sz="1400" dirty="0"/>
              <a:t> NPS antes da coleta.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Recomendações</a:t>
            </a:r>
            <a:r>
              <a:rPr sz="1400" dirty="0"/>
              <a:t> </a:t>
            </a:r>
            <a:r>
              <a:rPr sz="1400" dirty="0" err="1"/>
              <a:t>acionáveis</a:t>
            </a:r>
            <a:r>
              <a:rPr sz="1400" dirty="0"/>
              <a:t> </a:t>
            </a:r>
            <a:r>
              <a:rPr sz="1400" dirty="0" err="1"/>
              <a:t>focadas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logística</a:t>
            </a:r>
            <a:r>
              <a:rPr sz="1400" dirty="0"/>
              <a:t>, </a:t>
            </a:r>
            <a:r>
              <a:rPr sz="1400" dirty="0" err="1"/>
              <a:t>atendimento</a:t>
            </a:r>
            <a:r>
              <a:rPr sz="1400" dirty="0"/>
              <a:t> e </a:t>
            </a:r>
            <a:r>
              <a:rPr sz="1400" dirty="0" err="1"/>
              <a:t>governança</a:t>
            </a:r>
            <a:r>
              <a:rPr sz="1400" dirty="0"/>
              <a:t> </a:t>
            </a:r>
            <a:r>
              <a:rPr sz="1400" dirty="0" err="1"/>
              <a:t>operacional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3. Base analisada e abordagem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0584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078992"/>
            <a:ext cx="21579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Pedidos</a:t>
            </a:r>
          </a:p>
          <a:p>
            <a:pPr>
              <a:defRPr sz="2000" b="1">
                <a:solidFill>
                  <a:srgbClr val="2A9D8F"/>
                </a:solidFill>
                <a:latin typeface="Aptos"/>
              </a:defRPr>
            </a:pPr>
            <a:r>
              <a:t>2.500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00584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8728" y="1078992"/>
            <a:ext cx="21579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Variáveis</a:t>
            </a:r>
          </a:p>
          <a:p>
            <a:pPr>
              <a:defRPr sz="2000" b="1">
                <a:solidFill>
                  <a:srgbClr val="415A77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0584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078992"/>
            <a:ext cx="21579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Missing values</a:t>
            </a:r>
          </a:p>
          <a:p>
            <a:pPr>
              <a:defRPr sz="2000" b="1">
                <a:solidFill>
                  <a:srgbClr val="4CAF50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39" y="1005840"/>
            <a:ext cx="2377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16567" y="1078992"/>
            <a:ext cx="215798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Modelos</a:t>
            </a:r>
          </a:p>
          <a:p>
            <a:pPr>
              <a:defRPr sz="2000" b="1">
                <a:solidFill>
                  <a:srgbClr val="F4A261"/>
                </a:solidFill>
                <a:latin typeface="Aptos"/>
              </a:defRPr>
            </a:pPr>
            <a:r>
              <a:t>Linear + Quantílica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2560320"/>
            <a:ext cx="2240280" cy="1920240"/>
          </a:xfrm>
          <a:prstGeom prst="roundRect">
            <a:avLst/>
          </a:prstGeom>
          <a:solidFill>
            <a:srgbClr val="F7F9FC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2743200"/>
            <a:ext cx="2057400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1B2A"/>
                </a:solidFill>
                <a:latin typeface="Aptos"/>
              </a:defRPr>
            </a:pPr>
            <a:r>
              <a:rPr dirty="0"/>
              <a:t>Dados</a:t>
            </a:r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Pedido</a:t>
            </a:r>
            <a:r>
              <a:rPr dirty="0"/>
              <a:t>, </a:t>
            </a:r>
            <a:r>
              <a:rPr dirty="0" err="1"/>
              <a:t>logística</a:t>
            </a:r>
            <a:r>
              <a:rPr dirty="0"/>
              <a:t>, </a:t>
            </a:r>
            <a:r>
              <a:rPr dirty="0" err="1"/>
              <a:t>atendimento</a:t>
            </a:r>
            <a:r>
              <a:rPr dirty="0"/>
              <a:t>, </a:t>
            </a:r>
            <a:r>
              <a:rPr dirty="0" err="1"/>
              <a:t>recompra</a:t>
            </a:r>
            <a:endParaRPr dirty="0"/>
          </a:p>
        </p:txBody>
      </p:sp>
      <p:sp>
        <p:nvSpPr>
          <p:cNvPr id="19" name="Chevron 18"/>
          <p:cNvSpPr/>
          <p:nvPr/>
        </p:nvSpPr>
        <p:spPr>
          <a:xfrm>
            <a:off x="3209544" y="3200400"/>
            <a:ext cx="256032" cy="411480"/>
          </a:xfrm>
          <a:prstGeom prst="chevro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57600" y="2560320"/>
            <a:ext cx="2240280" cy="1920240"/>
          </a:xfrm>
          <a:prstGeom prst="roundRect">
            <a:avLst/>
          </a:prstGeom>
          <a:solidFill>
            <a:srgbClr val="F7F9FC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39" y="2743200"/>
            <a:ext cx="205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1B2A"/>
                </a:solidFill>
                <a:latin typeface="Aptos"/>
              </a:defRPr>
            </a:pPr>
            <a:r>
              <a:rPr dirty="0" err="1"/>
              <a:t>Exploração</a:t>
            </a:r>
            <a:endParaRPr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Entender</a:t>
            </a:r>
            <a:r>
              <a:rPr dirty="0"/>
              <a:t> drivers do NPS</a:t>
            </a:r>
          </a:p>
        </p:txBody>
      </p:sp>
      <p:sp>
        <p:nvSpPr>
          <p:cNvPr id="22" name="Chevron 21"/>
          <p:cNvSpPr/>
          <p:nvPr/>
        </p:nvSpPr>
        <p:spPr>
          <a:xfrm>
            <a:off x="5998464" y="3200400"/>
            <a:ext cx="256032" cy="411480"/>
          </a:xfrm>
          <a:prstGeom prst="chevro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46520" y="2560320"/>
            <a:ext cx="2240280" cy="1920240"/>
          </a:xfrm>
          <a:prstGeom prst="roundRect">
            <a:avLst/>
          </a:prstGeom>
          <a:solidFill>
            <a:srgbClr val="F7F9FC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2743200"/>
            <a:ext cx="205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1B2A"/>
                </a:solidFill>
                <a:latin typeface="Aptos"/>
              </a:defRPr>
            </a:pPr>
            <a:r>
              <a:rPr dirty="0" err="1"/>
              <a:t>Modelos</a:t>
            </a:r>
            <a:endParaRPr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Estimar</a:t>
            </a:r>
            <a:r>
              <a:rPr dirty="0"/>
              <a:t> NPS </a:t>
            </a:r>
            <a:r>
              <a:rPr dirty="0" err="1"/>
              <a:t>futuro</a:t>
            </a:r>
            <a:endParaRPr dirty="0"/>
          </a:p>
        </p:txBody>
      </p:sp>
      <p:sp>
        <p:nvSpPr>
          <p:cNvPr id="25" name="Chevron 24"/>
          <p:cNvSpPr/>
          <p:nvPr/>
        </p:nvSpPr>
        <p:spPr>
          <a:xfrm>
            <a:off x="8787384" y="3200400"/>
            <a:ext cx="256032" cy="411480"/>
          </a:xfrm>
          <a:prstGeom prst="chevron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235439" y="2560320"/>
            <a:ext cx="2240280" cy="1920240"/>
          </a:xfrm>
          <a:prstGeom prst="roundRect">
            <a:avLst/>
          </a:prstGeom>
          <a:solidFill>
            <a:srgbClr val="F7F9FC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79" y="2743200"/>
            <a:ext cx="2057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1B2A"/>
                </a:solidFill>
                <a:latin typeface="Aptos"/>
              </a:defRPr>
            </a:pPr>
            <a:r>
              <a:rPr dirty="0" err="1"/>
              <a:t>Ações</a:t>
            </a:r>
            <a:endParaRPr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1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intervenções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868680" y="4892040"/>
            <a:ext cx="10424160" cy="1051560"/>
          </a:xfrm>
          <a:prstGeom prst="roundRect">
            <a:avLst/>
          </a:prstGeom>
          <a:solidFill>
            <a:srgbClr val="F7F9FC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" y="4983480"/>
            <a:ext cx="101681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9D8F"/>
                </a:solidFill>
                <a:latin typeface="Aptos"/>
              </a:defRPr>
            </a:pPr>
            <a:r>
              <a:rPr sz="1400" dirty="0" err="1"/>
              <a:t>Leitura</a:t>
            </a:r>
            <a:r>
              <a:rPr sz="1400" dirty="0"/>
              <a:t> </a:t>
            </a:r>
            <a:r>
              <a:rPr sz="1400" dirty="0" err="1"/>
              <a:t>executiva</a:t>
            </a: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A </a:t>
            </a:r>
            <a:r>
              <a:rPr sz="1400" dirty="0" err="1"/>
              <a:t>abordagem</a:t>
            </a:r>
            <a:r>
              <a:rPr sz="1400" dirty="0"/>
              <a:t> </a:t>
            </a:r>
            <a:r>
              <a:rPr sz="1400" dirty="0" err="1"/>
              <a:t>foi</a:t>
            </a:r>
            <a:r>
              <a:rPr sz="1400" dirty="0"/>
              <a:t> </a:t>
            </a:r>
            <a:r>
              <a:rPr sz="1400" dirty="0" err="1"/>
              <a:t>desenhada</a:t>
            </a:r>
            <a:r>
              <a:rPr sz="1400" dirty="0"/>
              <a:t> para </a:t>
            </a:r>
            <a:r>
              <a:rPr sz="1400" dirty="0" err="1"/>
              <a:t>maximizar</a:t>
            </a:r>
            <a:r>
              <a:rPr sz="1400" dirty="0"/>
              <a:t> </a:t>
            </a:r>
            <a:r>
              <a:rPr sz="1400" dirty="0" err="1"/>
              <a:t>utilidade</a:t>
            </a:r>
            <a:r>
              <a:rPr sz="1400" dirty="0"/>
              <a:t> de </a:t>
            </a:r>
            <a:r>
              <a:rPr sz="1400" dirty="0" err="1"/>
              <a:t>negócio</a:t>
            </a:r>
            <a:r>
              <a:rPr sz="1400" dirty="0"/>
              <a:t>: </a:t>
            </a:r>
            <a:r>
              <a:rPr sz="1400" dirty="0" err="1"/>
              <a:t>menos</a:t>
            </a:r>
            <a:r>
              <a:rPr sz="1400" dirty="0"/>
              <a:t> </a:t>
            </a:r>
            <a:r>
              <a:rPr sz="1400" dirty="0" err="1"/>
              <a:t>foco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sofisticação</a:t>
            </a:r>
            <a:r>
              <a:rPr sz="1400" dirty="0"/>
              <a:t> </a:t>
            </a:r>
            <a:r>
              <a:rPr sz="1400" dirty="0" err="1"/>
              <a:t>técnica</a:t>
            </a:r>
            <a:r>
              <a:rPr sz="1400" dirty="0"/>
              <a:t> e </a:t>
            </a:r>
            <a:r>
              <a:rPr sz="1400" dirty="0" err="1"/>
              <a:t>mais</a:t>
            </a:r>
            <a:r>
              <a:rPr sz="1400" dirty="0"/>
              <a:t> </a:t>
            </a:r>
            <a:r>
              <a:rPr sz="1400" dirty="0" err="1"/>
              <a:t>foco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entender</a:t>
            </a:r>
            <a:r>
              <a:rPr sz="1400" dirty="0"/>
              <a:t> </a:t>
            </a:r>
            <a:r>
              <a:rPr sz="1400" dirty="0" err="1"/>
              <a:t>causas</a:t>
            </a:r>
            <a:r>
              <a:rPr sz="1400" dirty="0"/>
              <a:t>, </a:t>
            </a:r>
            <a:r>
              <a:rPr sz="1400" dirty="0" err="1"/>
              <a:t>antecipar</a:t>
            </a:r>
            <a:r>
              <a:rPr sz="1400" dirty="0"/>
              <a:t> </a:t>
            </a:r>
            <a:r>
              <a:rPr sz="1400" dirty="0" err="1"/>
              <a:t>risco</a:t>
            </a:r>
            <a:r>
              <a:rPr sz="1400" dirty="0"/>
              <a:t> e </a:t>
            </a:r>
            <a:r>
              <a:rPr sz="1400" dirty="0" err="1"/>
              <a:t>orientar</a:t>
            </a:r>
            <a:r>
              <a:rPr sz="1400" dirty="0"/>
              <a:t> </a:t>
            </a:r>
            <a:r>
              <a:rPr sz="1400" dirty="0" err="1"/>
              <a:t>decisão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4. Situação atual: o NPS sinaliza urgência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9" name="Picture 8" descr="dist_seg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6126480" cy="34461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0" y="1188720"/>
            <a:ext cx="3931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24928" y="1261872"/>
            <a:ext cx="371246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Detratores</a:t>
            </a:r>
          </a:p>
          <a:p>
            <a:pPr>
              <a:defRPr sz="2000" b="1">
                <a:solidFill>
                  <a:srgbClr val="D74C4C"/>
                </a:solidFill>
                <a:latin typeface="Aptos"/>
              </a:defRPr>
            </a:pPr>
            <a:r>
              <a:t>84,4%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240280"/>
            <a:ext cx="3931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F3A7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24928" y="2313432"/>
            <a:ext cx="371246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Neutros</a:t>
            </a:r>
          </a:p>
          <a:p>
            <a:pPr>
              <a:defRPr sz="2000" b="1">
                <a:solidFill>
                  <a:srgbClr val="F3A712"/>
                </a:solidFill>
                <a:latin typeface="Aptos"/>
              </a:defRPr>
            </a:pPr>
            <a:r>
              <a:t>11,2%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291840"/>
            <a:ext cx="3931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4928" y="3364992"/>
            <a:ext cx="3712464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Promotores</a:t>
            </a:r>
          </a:p>
          <a:p>
            <a:pPr>
              <a:defRPr sz="2000" b="1">
                <a:solidFill>
                  <a:srgbClr val="4CAF50"/>
                </a:solidFill>
                <a:latin typeface="Aptos"/>
              </a:defRPr>
            </a:pPr>
            <a:r>
              <a:t>4,4%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4526279"/>
            <a:ext cx="4114800" cy="1476435"/>
          </a:xfrm>
          <a:prstGeom prst="roundRect">
            <a:avLst/>
          </a:prstGeom>
          <a:solidFill>
            <a:srgbClr val="F7F9FC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06056" y="4617720"/>
            <a:ext cx="38587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9D8F"/>
                </a:solidFill>
                <a:latin typeface="Aptos"/>
              </a:defRPr>
            </a:pPr>
            <a:r>
              <a:rPr sz="1400" dirty="0"/>
              <a:t>O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isso</a:t>
            </a:r>
            <a:r>
              <a:rPr sz="1400" dirty="0"/>
              <a:t> </a:t>
            </a:r>
            <a:r>
              <a:rPr sz="1400" dirty="0" err="1"/>
              <a:t>significa</a:t>
            </a: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O </a:t>
            </a:r>
            <a:r>
              <a:rPr sz="1400" dirty="0" err="1"/>
              <a:t>problema</a:t>
            </a:r>
            <a:r>
              <a:rPr sz="1400" dirty="0"/>
              <a:t> </a:t>
            </a:r>
            <a:r>
              <a:rPr sz="1400" dirty="0" err="1"/>
              <a:t>não</a:t>
            </a:r>
            <a:r>
              <a:rPr sz="1400" dirty="0"/>
              <a:t> é marginal: a </a:t>
            </a:r>
            <a:r>
              <a:rPr sz="1400" dirty="0" err="1"/>
              <a:t>experiência</a:t>
            </a:r>
            <a:r>
              <a:rPr sz="1400" dirty="0"/>
              <a:t> </a:t>
            </a:r>
            <a:r>
              <a:rPr sz="1400" dirty="0" err="1"/>
              <a:t>atual</a:t>
            </a:r>
            <a:r>
              <a:rPr sz="1400" dirty="0"/>
              <a:t> </a:t>
            </a:r>
            <a:r>
              <a:rPr sz="1400" dirty="0" err="1"/>
              <a:t>já</a:t>
            </a:r>
            <a:r>
              <a:rPr sz="1400" dirty="0"/>
              <a:t> </a:t>
            </a:r>
            <a:r>
              <a:rPr sz="1400" dirty="0" err="1"/>
              <a:t>está</a:t>
            </a:r>
            <a:r>
              <a:rPr sz="1400" dirty="0"/>
              <a:t> </a:t>
            </a:r>
            <a:r>
              <a:rPr sz="1400" dirty="0" err="1"/>
              <a:t>majoritariamente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zona de </a:t>
            </a:r>
            <a:r>
              <a:rPr sz="1400" dirty="0" err="1"/>
              <a:t>risco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Qualquer</a:t>
            </a:r>
            <a:r>
              <a:rPr sz="1400" dirty="0"/>
              <a:t> </a:t>
            </a:r>
            <a:r>
              <a:rPr sz="1400" dirty="0" err="1"/>
              <a:t>melhoria</a:t>
            </a:r>
            <a:r>
              <a:rPr sz="1400" dirty="0"/>
              <a:t> </a:t>
            </a:r>
            <a:r>
              <a:rPr sz="1400" dirty="0" err="1"/>
              <a:t>operacional</a:t>
            </a:r>
            <a:r>
              <a:rPr sz="1400" dirty="0"/>
              <a:t> </a:t>
            </a:r>
            <a:r>
              <a:rPr sz="1400" dirty="0" err="1"/>
              <a:t>relevante</a:t>
            </a:r>
            <a:r>
              <a:rPr sz="1400" dirty="0"/>
              <a:t> </a:t>
            </a:r>
            <a:r>
              <a:rPr sz="1400" dirty="0" err="1"/>
              <a:t>pode</a:t>
            </a:r>
            <a:r>
              <a:rPr sz="1400" dirty="0"/>
              <a:t> </a:t>
            </a:r>
            <a:r>
              <a:rPr sz="1400" dirty="0" err="1"/>
              <a:t>deslocar</a:t>
            </a:r>
            <a:r>
              <a:rPr sz="1400" dirty="0"/>
              <a:t> um volume grande de </a:t>
            </a:r>
            <a:r>
              <a:rPr sz="1400" dirty="0" err="1"/>
              <a:t>clientes</a:t>
            </a:r>
            <a:r>
              <a:rPr sz="1400" dirty="0"/>
              <a:t> para </a:t>
            </a:r>
            <a:r>
              <a:rPr sz="1400" dirty="0" err="1"/>
              <a:t>faixas</a:t>
            </a:r>
            <a:r>
              <a:rPr sz="1400" dirty="0"/>
              <a:t> </a:t>
            </a:r>
            <a:r>
              <a:rPr sz="1400" dirty="0" err="1"/>
              <a:t>melhores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5. Driver nº 1: atraso de entrega define a queda do NPS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9" name="Picture 8" descr="nps_por_atra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486400" cy="3086100"/>
          </a:xfrm>
          <a:prstGeom prst="rect">
            <a:avLst/>
          </a:prstGeom>
        </p:spPr>
      </p:pic>
      <p:pic>
        <p:nvPicPr>
          <p:cNvPr id="10" name="Picture 9" descr="detratores_por_atra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51560"/>
            <a:ext cx="5440680" cy="30603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" y="50749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5148072"/>
            <a:ext cx="30723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Sem atraso</a:t>
            </a:r>
          </a:p>
          <a:p>
            <a:pPr>
              <a:defRPr sz="2000" b="1">
                <a:solidFill>
                  <a:srgbClr val="415A77"/>
                </a:solidFill>
                <a:latin typeface="Aptos"/>
              </a:defRPr>
            </a:pPr>
            <a:r>
              <a:t>NPS médio 6.9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0749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5148072"/>
            <a:ext cx="30723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Com 2 dias de atraso</a:t>
            </a:r>
          </a:p>
          <a:p>
            <a:pPr>
              <a:defRPr sz="2000" b="1">
                <a:solidFill>
                  <a:srgbClr val="F4A261"/>
                </a:solidFill>
                <a:latin typeface="Aptos"/>
              </a:defRPr>
            </a:pPr>
            <a:r>
              <a:t>NPS médio 4.6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074920"/>
            <a:ext cx="329184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5148072"/>
            <a:ext cx="307238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Com 3 dias de atraso</a:t>
            </a:r>
          </a:p>
          <a:p>
            <a:pPr>
              <a:defRPr sz="2000" b="1">
                <a:solidFill>
                  <a:srgbClr val="D74C4C"/>
                </a:solidFill>
                <a:latin typeface="Aptos"/>
              </a:defRPr>
            </a:pPr>
            <a:r>
              <a:t>NPS médio 3.4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16752"/>
            <a:ext cx="10241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1B2A"/>
                </a:solidFill>
                <a:latin typeface="Aptos"/>
              </a:defRPr>
            </a:pPr>
            <a:r>
              <a:rPr lang="pt-BR" dirty="0"/>
              <a:t>Observação</a:t>
            </a:r>
            <a:r>
              <a:rPr dirty="0"/>
              <a:t>: o </a:t>
            </a:r>
            <a:r>
              <a:rPr dirty="0" err="1"/>
              <a:t>ponto</a:t>
            </a:r>
            <a:r>
              <a:rPr dirty="0"/>
              <a:t> de </a:t>
            </a:r>
            <a:r>
              <a:rPr dirty="0" err="1"/>
              <a:t>ruptura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entre 2 e 3 </a:t>
            </a:r>
            <a:r>
              <a:rPr dirty="0" err="1"/>
              <a:t>dias</a:t>
            </a:r>
            <a:r>
              <a:rPr dirty="0"/>
              <a:t> de </a:t>
            </a:r>
            <a:r>
              <a:rPr dirty="0" err="1"/>
              <a:t>atraso</a:t>
            </a:r>
            <a:r>
              <a:rPr dirty="0"/>
              <a:t>. Acima </a:t>
            </a:r>
            <a:r>
              <a:rPr dirty="0" err="1"/>
              <a:t>disso</a:t>
            </a:r>
            <a:r>
              <a:rPr dirty="0"/>
              <a:t>, o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forte </a:t>
            </a:r>
            <a:r>
              <a:rPr dirty="0" err="1"/>
              <a:t>probabilidade</a:t>
            </a:r>
            <a:r>
              <a:rPr dirty="0"/>
              <a:t> de </a:t>
            </a:r>
            <a:r>
              <a:rPr dirty="0" err="1"/>
              <a:t>detrator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6. Driver nº 2: reclamações e contatos com suporte aprofundam a insatisfação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9" name="Picture 8" descr="nps_por_reclam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5029200" cy="2828925"/>
          </a:xfrm>
          <a:prstGeom prst="rect">
            <a:avLst/>
          </a:prstGeom>
        </p:spPr>
      </p:pic>
      <p:pic>
        <p:nvPicPr>
          <p:cNvPr id="10" name="Picture 9" descr="perfil_promotor_det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43000"/>
            <a:ext cx="5303520" cy="31821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31520" y="4892040"/>
            <a:ext cx="498348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9536" y="4983480"/>
            <a:ext cx="47274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r>
              <a:rPr sz="1400" dirty="0" err="1"/>
              <a:t>Leitura</a:t>
            </a:r>
            <a:r>
              <a:rPr sz="1400" dirty="0"/>
              <a:t> do dado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Mais </a:t>
            </a:r>
            <a:r>
              <a:rPr sz="1400" dirty="0" err="1"/>
              <a:t>reclamações</a:t>
            </a:r>
            <a:r>
              <a:rPr sz="1400" dirty="0"/>
              <a:t> e </a:t>
            </a:r>
            <a:r>
              <a:rPr sz="1400" dirty="0" err="1"/>
              <a:t>mais</a:t>
            </a:r>
            <a:r>
              <a:rPr sz="1400" dirty="0"/>
              <a:t> </a:t>
            </a:r>
            <a:r>
              <a:rPr sz="1400" dirty="0" err="1"/>
              <a:t>contatos</a:t>
            </a:r>
            <a:r>
              <a:rPr sz="1400" dirty="0"/>
              <a:t> </a:t>
            </a:r>
            <a:r>
              <a:rPr sz="1400" dirty="0" err="1"/>
              <a:t>significam</a:t>
            </a:r>
            <a:r>
              <a:rPr sz="1400" dirty="0"/>
              <a:t> </a:t>
            </a:r>
            <a:r>
              <a:rPr sz="1400" dirty="0" err="1"/>
              <a:t>mais</a:t>
            </a:r>
            <a:r>
              <a:rPr sz="1400" dirty="0"/>
              <a:t> </a:t>
            </a:r>
            <a:r>
              <a:rPr sz="1400" dirty="0" err="1"/>
              <a:t>fricção</a:t>
            </a:r>
            <a:r>
              <a:rPr sz="1400" dirty="0"/>
              <a:t> e </a:t>
            </a:r>
            <a:r>
              <a:rPr sz="1400" dirty="0" err="1"/>
              <a:t>menor</a:t>
            </a:r>
            <a:r>
              <a:rPr sz="1400" dirty="0"/>
              <a:t> </a:t>
            </a:r>
            <a:r>
              <a:rPr sz="1400" dirty="0" err="1"/>
              <a:t>satisfação</a:t>
            </a:r>
            <a:r>
              <a:rPr sz="1400"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4892040"/>
            <a:ext cx="5120640" cy="1097280"/>
          </a:xfrm>
          <a:prstGeom prst="roundRect">
            <a:avLst/>
          </a:prstGeom>
          <a:solidFill>
            <a:srgbClr val="F7F9FC"/>
          </a:solidFill>
          <a:ln>
            <a:solidFill>
              <a:srgbClr val="D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8776" y="4983480"/>
            <a:ext cx="48646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r>
              <a:rPr sz="1400" dirty="0" err="1"/>
              <a:t>Implicação</a:t>
            </a: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O </a:t>
            </a:r>
            <a:r>
              <a:rPr sz="1400" dirty="0" err="1"/>
              <a:t>cliente</a:t>
            </a:r>
            <a:r>
              <a:rPr sz="1400" dirty="0"/>
              <a:t> </a:t>
            </a:r>
            <a:r>
              <a:rPr sz="1400" dirty="0" err="1"/>
              <a:t>detrator</a:t>
            </a:r>
            <a:r>
              <a:rPr sz="1400" dirty="0"/>
              <a:t> </a:t>
            </a:r>
            <a:r>
              <a:rPr sz="1400" dirty="0" err="1"/>
              <a:t>não</a:t>
            </a:r>
            <a:r>
              <a:rPr sz="1400" dirty="0"/>
              <a:t> </a:t>
            </a:r>
            <a:r>
              <a:rPr sz="1400" dirty="0" err="1"/>
              <a:t>sofre</a:t>
            </a:r>
            <a:r>
              <a:rPr sz="1400" dirty="0"/>
              <a:t> </a:t>
            </a:r>
            <a:r>
              <a:rPr sz="1400" dirty="0" err="1"/>
              <a:t>apenas</a:t>
            </a:r>
            <a:r>
              <a:rPr sz="1400" dirty="0"/>
              <a:t> com </a:t>
            </a:r>
            <a:r>
              <a:rPr sz="1400" dirty="0" err="1"/>
              <a:t>atraso</a:t>
            </a:r>
            <a:r>
              <a:rPr sz="1400" dirty="0"/>
              <a:t>; </a:t>
            </a:r>
            <a:r>
              <a:rPr sz="1400" dirty="0" err="1"/>
              <a:t>ele</a:t>
            </a:r>
            <a:r>
              <a:rPr sz="1400" dirty="0"/>
              <a:t> </a:t>
            </a:r>
            <a:r>
              <a:rPr sz="1400" dirty="0" err="1"/>
              <a:t>também</a:t>
            </a:r>
            <a:r>
              <a:rPr sz="1400" dirty="0"/>
              <a:t> </a:t>
            </a:r>
            <a:r>
              <a:rPr sz="1400" dirty="0" err="1"/>
              <a:t>passa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uma</a:t>
            </a:r>
            <a:r>
              <a:rPr sz="1400" dirty="0"/>
              <a:t> jornada de </a:t>
            </a:r>
            <a:r>
              <a:rPr sz="1400" dirty="0" err="1"/>
              <a:t>recuperação</a:t>
            </a:r>
            <a:r>
              <a:rPr sz="1400" dirty="0"/>
              <a:t> </a:t>
            </a:r>
            <a:r>
              <a:rPr sz="1400" dirty="0" err="1"/>
              <a:t>ineficiente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7. O cliente satisfeito e o insatisfeito têm perfis operacionais muito distintos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9" name="Picture 8" descr="recompra_regi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669280" cy="255117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29400" y="1143000"/>
            <a:ext cx="45720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57416" y="1234440"/>
            <a:ext cx="43159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r>
              <a:rPr sz="1400" dirty="0" err="1"/>
              <a:t>Sinal</a:t>
            </a:r>
            <a:r>
              <a:rPr sz="1400" dirty="0"/>
              <a:t> </a:t>
            </a:r>
            <a:r>
              <a:rPr sz="1400" dirty="0" err="1"/>
              <a:t>mais</a:t>
            </a:r>
            <a:r>
              <a:rPr sz="1400" dirty="0"/>
              <a:t> </a:t>
            </a:r>
            <a:r>
              <a:rPr sz="1400" dirty="0" err="1"/>
              <a:t>positivo</a:t>
            </a: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Recompra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30 </a:t>
            </a:r>
            <a:r>
              <a:rPr sz="1400" dirty="0" err="1"/>
              <a:t>dias</a:t>
            </a:r>
            <a:r>
              <a:rPr sz="1400" dirty="0"/>
              <a:t> é o </a:t>
            </a:r>
            <a:r>
              <a:rPr sz="1400" dirty="0" err="1"/>
              <a:t>indicador</a:t>
            </a:r>
            <a:r>
              <a:rPr sz="1400" dirty="0"/>
              <a:t> </a:t>
            </a:r>
            <a:r>
              <a:rPr sz="1400" dirty="0" err="1"/>
              <a:t>comportamental</a:t>
            </a:r>
            <a:r>
              <a:rPr sz="1400" dirty="0"/>
              <a:t> </a:t>
            </a:r>
            <a:r>
              <a:rPr sz="1400" dirty="0" err="1"/>
              <a:t>mais</a:t>
            </a:r>
            <a:r>
              <a:rPr sz="1400" dirty="0"/>
              <a:t> forte de </a:t>
            </a:r>
            <a:r>
              <a:rPr sz="1400" dirty="0" err="1"/>
              <a:t>experiência</a:t>
            </a:r>
            <a:r>
              <a:rPr sz="1400" dirty="0"/>
              <a:t> </a:t>
            </a:r>
            <a:r>
              <a:rPr sz="1400" dirty="0" err="1"/>
              <a:t>positiva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Na base, </a:t>
            </a:r>
            <a:r>
              <a:rPr sz="1400" dirty="0" err="1"/>
              <a:t>clientes</a:t>
            </a:r>
            <a:r>
              <a:rPr sz="1400" dirty="0"/>
              <a:t> </a:t>
            </a:r>
            <a:r>
              <a:rPr sz="1400" dirty="0" err="1"/>
              <a:t>que</a:t>
            </a:r>
            <a:r>
              <a:rPr sz="1400" dirty="0"/>
              <a:t> </a:t>
            </a:r>
            <a:r>
              <a:rPr sz="1400" dirty="0" err="1"/>
              <a:t>recompram</a:t>
            </a:r>
            <a:r>
              <a:rPr sz="1400" dirty="0"/>
              <a:t> </a:t>
            </a:r>
            <a:r>
              <a:rPr sz="1400" dirty="0" err="1"/>
              <a:t>apresentam</a:t>
            </a:r>
            <a:r>
              <a:rPr sz="1400" dirty="0"/>
              <a:t> NPS </a:t>
            </a:r>
            <a:r>
              <a:rPr sz="1400" dirty="0" err="1"/>
              <a:t>médio</a:t>
            </a:r>
            <a:r>
              <a:rPr sz="1400" dirty="0"/>
              <a:t> </a:t>
            </a:r>
            <a:r>
              <a:rPr sz="1400" dirty="0" err="1"/>
              <a:t>muito</a:t>
            </a:r>
            <a:r>
              <a:rPr sz="1400" dirty="0"/>
              <a:t> superior </a:t>
            </a:r>
            <a:r>
              <a:rPr sz="1400" dirty="0" err="1"/>
              <a:t>aos</a:t>
            </a:r>
            <a:r>
              <a:rPr sz="1400" dirty="0"/>
              <a:t> </a:t>
            </a:r>
            <a:r>
              <a:rPr sz="1400" dirty="0" err="1"/>
              <a:t>demais</a:t>
            </a:r>
            <a:r>
              <a:rPr sz="1400"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246120"/>
            <a:ext cx="4572000" cy="1828800"/>
          </a:xfrm>
          <a:prstGeom prst="roundRect">
            <a:avLst/>
          </a:prstGeom>
          <a:solidFill>
            <a:srgbClr val="F7F9FC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57416" y="3337560"/>
            <a:ext cx="43159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A9D8F"/>
                </a:solidFill>
                <a:latin typeface="Aptos"/>
              </a:defRPr>
            </a:pPr>
            <a:r>
              <a:rPr sz="1400" dirty="0" err="1"/>
              <a:t>Leitura</a:t>
            </a:r>
            <a:r>
              <a:rPr sz="1400" dirty="0"/>
              <a:t> para o </a:t>
            </a:r>
            <a:r>
              <a:rPr sz="1400" dirty="0" err="1"/>
              <a:t>negócio</a:t>
            </a: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Melhorar</a:t>
            </a:r>
            <a:r>
              <a:rPr sz="1400" dirty="0"/>
              <a:t> NPS </a:t>
            </a:r>
            <a:r>
              <a:rPr sz="1400" dirty="0" err="1"/>
              <a:t>não</a:t>
            </a:r>
            <a:r>
              <a:rPr sz="1400" dirty="0"/>
              <a:t> é </a:t>
            </a:r>
            <a:r>
              <a:rPr sz="1400" dirty="0" err="1"/>
              <a:t>apenas</a:t>
            </a:r>
            <a:r>
              <a:rPr sz="1400" dirty="0"/>
              <a:t> “</a:t>
            </a:r>
            <a:r>
              <a:rPr sz="1400" dirty="0" err="1"/>
              <a:t>imagem</a:t>
            </a:r>
            <a:r>
              <a:rPr sz="1400" dirty="0"/>
              <a:t>”: </a:t>
            </a:r>
            <a:r>
              <a:rPr sz="1400" dirty="0" err="1"/>
              <a:t>há</a:t>
            </a:r>
            <a:r>
              <a:rPr sz="1400" dirty="0"/>
              <a:t> </a:t>
            </a:r>
            <a:r>
              <a:rPr sz="1400" dirty="0" err="1"/>
              <a:t>relação</a:t>
            </a:r>
            <a:r>
              <a:rPr sz="1400" dirty="0"/>
              <a:t> </a:t>
            </a:r>
            <a:r>
              <a:rPr sz="1400" dirty="0" err="1"/>
              <a:t>direta</a:t>
            </a:r>
            <a:r>
              <a:rPr sz="1400" dirty="0"/>
              <a:t> com </a:t>
            </a:r>
            <a:r>
              <a:rPr sz="1400" dirty="0" err="1"/>
              <a:t>recorrência</a:t>
            </a:r>
            <a:r>
              <a:rPr sz="1400" dirty="0"/>
              <a:t> e valor do </a:t>
            </a:r>
            <a:r>
              <a:rPr sz="1400" dirty="0" err="1"/>
              <a:t>cliente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Portanto</a:t>
            </a:r>
            <a:r>
              <a:rPr sz="1400" dirty="0"/>
              <a:t>, </a:t>
            </a:r>
            <a:r>
              <a:rPr sz="1400" dirty="0" err="1"/>
              <a:t>atacar</a:t>
            </a:r>
            <a:r>
              <a:rPr sz="1400" dirty="0"/>
              <a:t> as </a:t>
            </a:r>
            <a:r>
              <a:rPr sz="1400" dirty="0" err="1"/>
              <a:t>causas</a:t>
            </a:r>
            <a:r>
              <a:rPr sz="1400" dirty="0"/>
              <a:t> do </a:t>
            </a:r>
            <a:r>
              <a:rPr sz="1400" dirty="0" err="1"/>
              <a:t>detrator</a:t>
            </a:r>
            <a:r>
              <a:rPr sz="1400" dirty="0"/>
              <a:t> </a:t>
            </a:r>
            <a:r>
              <a:rPr sz="1400" dirty="0" err="1"/>
              <a:t>também</a:t>
            </a:r>
            <a:r>
              <a:rPr sz="1400" dirty="0"/>
              <a:t> é </a:t>
            </a:r>
            <a:r>
              <a:rPr sz="1400" dirty="0" err="1"/>
              <a:t>uma</a:t>
            </a:r>
            <a:r>
              <a:rPr sz="1400" dirty="0"/>
              <a:t> </a:t>
            </a:r>
            <a:r>
              <a:rPr sz="1400" dirty="0" err="1"/>
              <a:t>alavanca</a:t>
            </a:r>
            <a:r>
              <a:rPr sz="1400" dirty="0"/>
              <a:t> de </a:t>
            </a:r>
            <a:r>
              <a:rPr sz="1400" dirty="0" err="1"/>
              <a:t>crescimento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8. O que os modelos preditivos agregam ao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9728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1170432"/>
            <a:ext cx="22494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Melhor modelo-base</a:t>
            </a:r>
          </a:p>
          <a:p>
            <a:pPr>
              <a:defRPr sz="2000" b="1">
                <a:solidFill>
                  <a:srgbClr val="415A77"/>
                </a:solidFill>
                <a:latin typeface="Aptos"/>
              </a:defRPr>
            </a:pPr>
            <a:r>
              <a:t>Regressão linear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09728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1170432"/>
            <a:ext cx="22494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R²</a:t>
            </a:r>
          </a:p>
          <a:p>
            <a:pPr>
              <a:defRPr sz="2000" b="1">
                <a:solidFill>
                  <a:srgbClr val="2A9D8F"/>
                </a:solidFill>
                <a:latin typeface="Aptos"/>
              </a:defRPr>
            </a:pPr>
            <a:r>
              <a:t>0.685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170432"/>
            <a:ext cx="22494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MAE</a:t>
            </a:r>
          </a:p>
          <a:p>
            <a:pPr>
              <a:defRPr sz="2000" b="1">
                <a:solidFill>
                  <a:srgbClr val="F4A261"/>
                </a:solidFill>
                <a:latin typeface="Aptos"/>
              </a:defRPr>
            </a:pPr>
            <a:r>
              <a:t>1.131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097280"/>
            <a:ext cx="2468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0848" y="1170432"/>
            <a:ext cx="22494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F6368"/>
                </a:solidFill>
                <a:latin typeface="Aptos"/>
              </a:defRPr>
            </a:pPr>
            <a:r>
              <a:t>Complemento gerencial</a:t>
            </a:r>
          </a:p>
          <a:p>
            <a:pPr>
              <a:defRPr sz="2000" b="1">
                <a:solidFill>
                  <a:srgbClr val="4CAF50"/>
                </a:solidFill>
                <a:latin typeface="Aptos"/>
              </a:defRPr>
            </a:pPr>
            <a:r>
              <a:t>Quantílica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468880"/>
            <a:ext cx="3474720" cy="3291840"/>
          </a:xfrm>
          <a:prstGeom prst="roundRect">
            <a:avLst/>
          </a:prstGeom>
          <a:solidFill>
            <a:srgbClr val="F7F9FC"/>
          </a:solidFill>
          <a:ln>
            <a:solidFill>
              <a:srgbClr val="415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18" name="TextBox 17"/>
          <p:cNvSpPr txBox="1"/>
          <p:nvPr/>
        </p:nvSpPr>
        <p:spPr>
          <a:xfrm>
            <a:off x="905256" y="2560320"/>
            <a:ext cx="32186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15A77"/>
                </a:solidFill>
                <a:latin typeface="Aptos"/>
              </a:defRPr>
            </a:pPr>
            <a:r>
              <a:rPr sz="1400" dirty="0" err="1"/>
              <a:t>Regressão</a:t>
            </a:r>
            <a:r>
              <a:rPr sz="1400" dirty="0"/>
              <a:t> linear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Entrega a </a:t>
            </a:r>
            <a:r>
              <a:rPr sz="1400" dirty="0" err="1"/>
              <a:t>melhor</a:t>
            </a:r>
            <a:r>
              <a:rPr sz="1400" dirty="0"/>
              <a:t> </a:t>
            </a:r>
            <a:r>
              <a:rPr sz="1400" dirty="0" err="1"/>
              <a:t>previsão</a:t>
            </a:r>
            <a:r>
              <a:rPr sz="1400" dirty="0"/>
              <a:t> </a:t>
            </a:r>
            <a:r>
              <a:rPr sz="1400" dirty="0" err="1"/>
              <a:t>média</a:t>
            </a:r>
            <a:r>
              <a:rPr sz="1400" dirty="0"/>
              <a:t> do NPS.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É a </a:t>
            </a:r>
            <a:r>
              <a:rPr sz="1400" dirty="0" err="1"/>
              <a:t>melhor</a:t>
            </a:r>
            <a:r>
              <a:rPr sz="1400" dirty="0"/>
              <a:t> </a:t>
            </a:r>
            <a:r>
              <a:rPr sz="1400" dirty="0" err="1"/>
              <a:t>opção</a:t>
            </a:r>
            <a:r>
              <a:rPr sz="1400" dirty="0"/>
              <a:t> para score </a:t>
            </a:r>
            <a:r>
              <a:rPr sz="1400" dirty="0" err="1"/>
              <a:t>operacional</a:t>
            </a:r>
            <a:r>
              <a:rPr sz="1400" dirty="0"/>
              <a:t> e </a:t>
            </a:r>
            <a:r>
              <a:rPr sz="1400" dirty="0" err="1"/>
              <a:t>priorização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escala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Traz</a:t>
            </a:r>
            <a:r>
              <a:rPr sz="1400" dirty="0"/>
              <a:t> </a:t>
            </a:r>
            <a:r>
              <a:rPr sz="1400" dirty="0" err="1"/>
              <a:t>leitura</a:t>
            </a:r>
            <a:r>
              <a:rPr sz="1400" dirty="0"/>
              <a:t> simples e </a:t>
            </a:r>
            <a:r>
              <a:rPr sz="1400" dirty="0" err="1"/>
              <a:t>acionável</a:t>
            </a:r>
            <a:r>
              <a:rPr sz="1400" dirty="0"/>
              <a:t> para o </a:t>
            </a:r>
            <a:r>
              <a:rPr sz="1400" dirty="0" err="1"/>
              <a:t>negócio</a:t>
            </a:r>
            <a:r>
              <a:rPr sz="1400"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468880"/>
            <a:ext cx="3474720" cy="3291840"/>
          </a:xfrm>
          <a:prstGeom prst="roundRect">
            <a:avLst/>
          </a:prstGeom>
          <a:solidFill>
            <a:srgbClr val="F7F9FC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62856" y="2560320"/>
            <a:ext cx="32186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A9D8F"/>
                </a:solidFill>
                <a:latin typeface="Aptos"/>
              </a:defRPr>
            </a:pPr>
            <a:r>
              <a:rPr sz="1400" dirty="0" err="1"/>
              <a:t>Regressão</a:t>
            </a:r>
            <a:r>
              <a:rPr sz="1400" dirty="0"/>
              <a:t> </a:t>
            </a:r>
            <a:r>
              <a:rPr sz="1400" dirty="0" err="1"/>
              <a:t>quantílica</a:t>
            </a: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Ajuda a </a:t>
            </a:r>
            <a:r>
              <a:rPr sz="1400" dirty="0" err="1"/>
              <a:t>entender</a:t>
            </a:r>
            <a:r>
              <a:rPr sz="1400" dirty="0"/>
              <a:t> </a:t>
            </a:r>
            <a:r>
              <a:rPr sz="1400" dirty="0" err="1"/>
              <a:t>como</a:t>
            </a:r>
            <a:r>
              <a:rPr sz="1400" dirty="0"/>
              <a:t> </a:t>
            </a:r>
            <a:r>
              <a:rPr sz="1400" dirty="0" err="1"/>
              <a:t>os</a:t>
            </a:r>
            <a:r>
              <a:rPr sz="1400" dirty="0"/>
              <a:t> drivers </a:t>
            </a:r>
            <a:r>
              <a:rPr sz="1400" dirty="0" err="1"/>
              <a:t>variam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clientes</a:t>
            </a:r>
            <a:r>
              <a:rPr sz="1400" dirty="0"/>
              <a:t> </a:t>
            </a:r>
            <a:r>
              <a:rPr sz="1400" dirty="0" err="1"/>
              <a:t>mais</a:t>
            </a:r>
            <a:r>
              <a:rPr sz="1400" dirty="0"/>
              <a:t> </a:t>
            </a:r>
            <a:r>
              <a:rPr sz="1400" dirty="0" err="1"/>
              <a:t>críticos</a:t>
            </a:r>
            <a:r>
              <a:rPr sz="1400" dirty="0"/>
              <a:t> </a:t>
            </a:r>
            <a:r>
              <a:rPr sz="1400" dirty="0" err="1"/>
              <a:t>ou</a:t>
            </a:r>
            <a:r>
              <a:rPr sz="1400" dirty="0"/>
              <a:t> </a:t>
            </a:r>
            <a:r>
              <a:rPr sz="1400" dirty="0" err="1"/>
              <a:t>mais</a:t>
            </a:r>
            <a:r>
              <a:rPr sz="1400" dirty="0"/>
              <a:t> </a:t>
            </a:r>
            <a:r>
              <a:rPr sz="1400" dirty="0" err="1"/>
              <a:t>satisfeitos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É </a:t>
            </a:r>
            <a:r>
              <a:rPr sz="1400" dirty="0" err="1"/>
              <a:t>útil</a:t>
            </a:r>
            <a:r>
              <a:rPr sz="1400" dirty="0"/>
              <a:t> para </a:t>
            </a:r>
            <a:r>
              <a:rPr sz="1400" dirty="0" err="1"/>
              <a:t>segmentação</a:t>
            </a:r>
            <a:r>
              <a:rPr sz="1400" dirty="0"/>
              <a:t> e </a:t>
            </a:r>
            <a:r>
              <a:rPr sz="1400" dirty="0" err="1"/>
              <a:t>desenho</a:t>
            </a:r>
            <a:r>
              <a:rPr sz="1400" dirty="0"/>
              <a:t> de </a:t>
            </a:r>
            <a:r>
              <a:rPr sz="1400" dirty="0" err="1"/>
              <a:t>políticas</a:t>
            </a:r>
            <a:r>
              <a:rPr sz="1400" dirty="0"/>
              <a:t> de </a:t>
            </a:r>
            <a:r>
              <a:rPr sz="1400" dirty="0" err="1"/>
              <a:t>ação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faixa</a:t>
            </a:r>
            <a:r>
              <a:rPr sz="1400" dirty="0"/>
              <a:t> de </a:t>
            </a:r>
            <a:r>
              <a:rPr sz="1400" dirty="0" err="1"/>
              <a:t>risco</a:t>
            </a:r>
            <a:r>
              <a:rPr sz="1400"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468880"/>
            <a:ext cx="3154680" cy="3291840"/>
          </a:xfrm>
          <a:prstGeom prst="roundRect">
            <a:avLst/>
          </a:prstGeom>
          <a:solidFill>
            <a:srgbClr val="F7F9FC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456" y="2560320"/>
            <a:ext cx="28986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4A261"/>
                </a:solidFill>
                <a:latin typeface="Aptos"/>
              </a:defRPr>
            </a:pPr>
            <a:r>
              <a:rPr sz="1400" dirty="0" err="1"/>
              <a:t>Mensagem-chave</a:t>
            </a: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O </a:t>
            </a:r>
            <a:r>
              <a:rPr sz="1400" dirty="0" err="1"/>
              <a:t>objetivo</a:t>
            </a:r>
            <a:r>
              <a:rPr sz="1400" dirty="0"/>
              <a:t> dos </a:t>
            </a:r>
            <a:r>
              <a:rPr sz="1400" dirty="0" err="1"/>
              <a:t>modelos</a:t>
            </a:r>
            <a:r>
              <a:rPr sz="1400" dirty="0"/>
              <a:t> </a:t>
            </a:r>
            <a:r>
              <a:rPr sz="1400" dirty="0" err="1"/>
              <a:t>não</a:t>
            </a:r>
            <a:r>
              <a:rPr sz="1400" dirty="0"/>
              <a:t> é </a:t>
            </a:r>
            <a:r>
              <a:rPr sz="1400" dirty="0" err="1"/>
              <a:t>substituir</a:t>
            </a:r>
            <a:r>
              <a:rPr sz="1400" dirty="0"/>
              <a:t> a </a:t>
            </a:r>
            <a:r>
              <a:rPr sz="1400" dirty="0" err="1"/>
              <a:t>pesquisa</a:t>
            </a:r>
            <a:r>
              <a:rPr sz="1400" dirty="0"/>
              <a:t> de NPS, e sim </a:t>
            </a:r>
            <a:r>
              <a:rPr sz="1400" dirty="0" err="1"/>
              <a:t>antecipar</a:t>
            </a:r>
            <a:r>
              <a:rPr sz="1400" dirty="0"/>
              <a:t> </a:t>
            </a:r>
            <a:r>
              <a:rPr sz="1400" dirty="0" err="1"/>
              <a:t>risco</a:t>
            </a:r>
            <a:r>
              <a:rPr sz="1400" dirty="0"/>
              <a:t> para </a:t>
            </a:r>
            <a:r>
              <a:rPr sz="1400" dirty="0" err="1"/>
              <a:t>agir</a:t>
            </a:r>
            <a:r>
              <a:rPr sz="1400" dirty="0"/>
              <a:t> antes.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Em </a:t>
            </a:r>
            <a:r>
              <a:rPr sz="1400" dirty="0" err="1"/>
              <a:t>termos</a:t>
            </a:r>
            <a:r>
              <a:rPr sz="1400" dirty="0"/>
              <a:t> </a:t>
            </a:r>
            <a:r>
              <a:rPr sz="1400" dirty="0" err="1"/>
              <a:t>executivos</a:t>
            </a:r>
            <a:r>
              <a:rPr sz="1400" dirty="0"/>
              <a:t>: </a:t>
            </a:r>
            <a:r>
              <a:rPr sz="1400" dirty="0" err="1"/>
              <a:t>passar</a:t>
            </a:r>
            <a:r>
              <a:rPr sz="1400" dirty="0"/>
              <a:t> de </a:t>
            </a:r>
            <a:r>
              <a:rPr sz="1400" dirty="0" err="1"/>
              <a:t>reação</a:t>
            </a:r>
            <a:r>
              <a:rPr sz="1400" dirty="0"/>
              <a:t> para </a:t>
            </a:r>
            <a:r>
              <a:rPr sz="1400" dirty="0" err="1"/>
              <a:t>prevenção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9. Recomendações priorizadas para o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3474720" cy="3977640"/>
          </a:xfrm>
          <a:prstGeom prst="roundRect">
            <a:avLst/>
          </a:prstGeom>
          <a:solidFill>
            <a:srgbClr val="F7F9FC"/>
          </a:solidFill>
          <a:ln>
            <a:solidFill>
              <a:srgbClr val="D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325880"/>
            <a:ext cx="237203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399032"/>
            <a:ext cx="21934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368"/>
                </a:solidFill>
                <a:latin typeface="Aptos"/>
              </a:defRPr>
            </a:pPr>
            <a:r>
              <a:rPr dirty="0" err="1"/>
              <a:t>Prioridade</a:t>
            </a:r>
            <a:endParaRPr dirty="0"/>
          </a:p>
          <a:p>
            <a:pPr algn="ctr">
              <a:defRPr sz="2000" b="1">
                <a:solidFill>
                  <a:srgbClr val="D74C4C"/>
                </a:solidFill>
                <a:latin typeface="Aptos"/>
              </a:defRPr>
            </a:pPr>
            <a:r>
              <a:rPr dirty="0"/>
              <a:t>Alta </a:t>
            </a:r>
            <a:r>
              <a:rPr dirty="0" err="1"/>
              <a:t>prioridade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13232" y="2103120"/>
            <a:ext cx="30632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endParaRPr lang="pt-BR" dirty="0"/>
          </a:p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endParaRPr lang="pt-BR" dirty="0"/>
          </a:p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endParaRPr lang="pt-BR" dirty="0"/>
          </a:p>
          <a:p>
            <a:pPr>
              <a:defRPr sz="1500" b="1">
                <a:solidFill>
                  <a:srgbClr val="D74C4C"/>
                </a:solidFill>
                <a:latin typeface="Aptos"/>
              </a:defRPr>
            </a:pPr>
            <a:r>
              <a:rPr dirty="0"/>
              <a:t>1. </a:t>
            </a:r>
            <a:r>
              <a:rPr dirty="0" err="1"/>
              <a:t>Reduzir</a:t>
            </a:r>
            <a:r>
              <a:rPr dirty="0"/>
              <a:t> </a:t>
            </a:r>
            <a:r>
              <a:rPr dirty="0" err="1"/>
              <a:t>atraso</a:t>
            </a:r>
            <a:r>
              <a:rPr dirty="0"/>
              <a:t> </a:t>
            </a:r>
            <a:r>
              <a:rPr dirty="0" err="1"/>
              <a:t>crítico</a:t>
            </a:r>
            <a:endParaRPr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alerta</a:t>
            </a:r>
            <a:r>
              <a:rPr dirty="0"/>
              <a:t> para </a:t>
            </a:r>
            <a:r>
              <a:rPr dirty="0" err="1"/>
              <a:t>pedidos</a:t>
            </a:r>
            <a:r>
              <a:rPr dirty="0"/>
              <a:t> com 2+ </a:t>
            </a:r>
            <a:r>
              <a:rPr dirty="0" err="1"/>
              <a:t>dias</a:t>
            </a:r>
            <a:r>
              <a:rPr dirty="0"/>
              <a:t> de </a:t>
            </a:r>
            <a:r>
              <a:rPr dirty="0" err="1"/>
              <a:t>atraso</a:t>
            </a:r>
            <a:r>
              <a:rPr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Acionar</a:t>
            </a:r>
            <a:r>
              <a:rPr dirty="0"/>
              <a:t> </a:t>
            </a:r>
            <a:r>
              <a:rPr dirty="0" err="1"/>
              <a:t>comunicação</a:t>
            </a:r>
            <a:r>
              <a:rPr dirty="0"/>
              <a:t> </a:t>
            </a:r>
            <a:r>
              <a:rPr dirty="0" err="1"/>
              <a:t>proativa</a:t>
            </a:r>
            <a:r>
              <a:rPr dirty="0"/>
              <a:t> com </a:t>
            </a:r>
            <a:r>
              <a:rPr dirty="0" err="1"/>
              <a:t>cliente</a:t>
            </a:r>
            <a:r>
              <a:rPr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Escalonar</a:t>
            </a:r>
            <a:r>
              <a:rPr dirty="0"/>
              <a:t> </a:t>
            </a:r>
            <a:r>
              <a:rPr dirty="0" err="1"/>
              <a:t>exceções</a:t>
            </a:r>
            <a:r>
              <a:rPr dirty="0"/>
              <a:t> </a:t>
            </a:r>
            <a:r>
              <a:rPr dirty="0" err="1"/>
              <a:t>logísticas</a:t>
            </a:r>
            <a:r>
              <a:rPr dirty="0"/>
              <a:t> com SLA </a:t>
            </a:r>
            <a:r>
              <a:rPr dirty="0" err="1"/>
              <a:t>interno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188720"/>
            <a:ext cx="3474720" cy="3977640"/>
          </a:xfrm>
          <a:prstGeom prst="roundRect">
            <a:avLst/>
          </a:prstGeom>
          <a:solidFill>
            <a:srgbClr val="F7F9FC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26279" y="1325880"/>
            <a:ext cx="2602107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1399032"/>
            <a:ext cx="23940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368"/>
                </a:solidFill>
                <a:latin typeface="Aptos"/>
              </a:defRPr>
            </a:pPr>
            <a:r>
              <a:rPr dirty="0" err="1"/>
              <a:t>Prioridade</a:t>
            </a:r>
            <a:endParaRPr dirty="0"/>
          </a:p>
          <a:p>
            <a:pPr algn="ctr">
              <a:defRPr sz="2000" b="1">
                <a:solidFill>
                  <a:srgbClr val="F4A261"/>
                </a:solidFill>
                <a:latin typeface="Aptos"/>
              </a:defRPr>
            </a:pPr>
            <a:r>
              <a:rPr dirty="0"/>
              <a:t>Alta </a:t>
            </a:r>
            <a:r>
              <a:rPr dirty="0" err="1"/>
              <a:t>prioridade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553712" y="2103120"/>
            <a:ext cx="306324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endParaRPr lang="pt-BR" dirty="0"/>
          </a:p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endParaRPr lang="pt-BR" dirty="0"/>
          </a:p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endParaRPr lang="pt-BR" dirty="0"/>
          </a:p>
          <a:p>
            <a:pPr>
              <a:defRPr sz="1500" b="1">
                <a:solidFill>
                  <a:srgbClr val="F4A261"/>
                </a:solidFill>
                <a:latin typeface="Aptos"/>
              </a:defRPr>
            </a:pPr>
            <a:r>
              <a:rPr dirty="0"/>
              <a:t>2. </a:t>
            </a:r>
            <a:r>
              <a:rPr dirty="0" err="1"/>
              <a:t>Proteger</a:t>
            </a:r>
            <a:r>
              <a:rPr dirty="0"/>
              <a:t> </a:t>
            </a:r>
            <a:r>
              <a:rPr dirty="0" err="1"/>
              <a:t>pedidos</a:t>
            </a:r>
            <a:r>
              <a:rPr dirty="0"/>
              <a:t> com </a:t>
            </a:r>
            <a:r>
              <a:rPr dirty="0" err="1"/>
              <a:t>fricção</a:t>
            </a:r>
            <a:r>
              <a:rPr dirty="0"/>
              <a:t> de </a:t>
            </a:r>
            <a:r>
              <a:rPr dirty="0" err="1"/>
              <a:t>atendimento</a:t>
            </a:r>
            <a:endParaRPr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Unificar</a:t>
            </a:r>
            <a:r>
              <a:rPr dirty="0"/>
              <a:t> </a:t>
            </a:r>
            <a:r>
              <a:rPr dirty="0" err="1"/>
              <a:t>visão</a:t>
            </a:r>
            <a:r>
              <a:rPr dirty="0"/>
              <a:t> de </a:t>
            </a:r>
            <a:r>
              <a:rPr dirty="0" err="1"/>
              <a:t>atraso</a:t>
            </a:r>
            <a:r>
              <a:rPr dirty="0"/>
              <a:t> + </a:t>
            </a:r>
            <a:r>
              <a:rPr dirty="0" err="1"/>
              <a:t>reclamação</a:t>
            </a:r>
            <a:r>
              <a:rPr dirty="0"/>
              <a:t> + </a:t>
            </a:r>
            <a:r>
              <a:rPr dirty="0" err="1"/>
              <a:t>contatos</a:t>
            </a:r>
            <a:r>
              <a:rPr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Priorizar</a:t>
            </a:r>
            <a:r>
              <a:rPr dirty="0"/>
              <a:t> </a:t>
            </a:r>
            <a:r>
              <a:rPr dirty="0" err="1"/>
              <a:t>tratativa</a:t>
            </a:r>
            <a:r>
              <a:rPr dirty="0"/>
              <a:t> de </a:t>
            </a:r>
            <a:r>
              <a:rPr dirty="0" err="1"/>
              <a:t>clientes</a:t>
            </a:r>
            <a:r>
              <a:rPr dirty="0"/>
              <a:t> de alto </a:t>
            </a:r>
            <a:r>
              <a:rPr dirty="0" err="1"/>
              <a:t>risco</a:t>
            </a:r>
            <a:r>
              <a:rPr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Reduzir</a:t>
            </a:r>
            <a:r>
              <a:rPr dirty="0"/>
              <a:t> tempo de </a:t>
            </a:r>
            <a:r>
              <a:rPr dirty="0" err="1"/>
              <a:t>resolução</a:t>
            </a:r>
            <a:r>
              <a:rPr dirty="0"/>
              <a:t> e </a:t>
            </a:r>
            <a:r>
              <a:rPr dirty="0" err="1"/>
              <a:t>retrabalho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188720"/>
            <a:ext cx="3474720" cy="3977640"/>
          </a:xfrm>
          <a:prstGeom prst="roundRect">
            <a:avLst/>
          </a:prstGeom>
          <a:solidFill>
            <a:srgbClr val="F7F9FC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66760" y="1325880"/>
            <a:ext cx="2753524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76487" y="1399032"/>
            <a:ext cx="245698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F6368"/>
                </a:solidFill>
                <a:latin typeface="Aptos"/>
              </a:defRPr>
            </a:pPr>
            <a:r>
              <a:rPr dirty="0" err="1"/>
              <a:t>Prioridade</a:t>
            </a:r>
            <a:endParaRPr dirty="0"/>
          </a:p>
          <a:p>
            <a:pPr algn="ctr">
              <a:defRPr sz="2000" b="1">
                <a:solidFill>
                  <a:srgbClr val="4CAF50"/>
                </a:solidFill>
                <a:latin typeface="Aptos"/>
              </a:defRPr>
            </a:pPr>
            <a:r>
              <a:rPr dirty="0" err="1"/>
              <a:t>Média</a:t>
            </a:r>
            <a:r>
              <a:rPr dirty="0"/>
              <a:t> </a:t>
            </a:r>
            <a:r>
              <a:rPr dirty="0" err="1"/>
              <a:t>prioridade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394192" y="2103120"/>
            <a:ext cx="30632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endParaRPr lang="pt-BR" dirty="0"/>
          </a:p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endParaRPr lang="pt-BR" dirty="0"/>
          </a:p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endParaRPr lang="pt-BR" dirty="0"/>
          </a:p>
          <a:p>
            <a:pPr>
              <a:defRPr sz="1500" b="1">
                <a:solidFill>
                  <a:srgbClr val="4CAF50"/>
                </a:solidFill>
                <a:latin typeface="Aptos"/>
              </a:defRPr>
            </a:pPr>
            <a:r>
              <a:rPr dirty="0"/>
              <a:t>3. </a:t>
            </a:r>
            <a:r>
              <a:rPr dirty="0" err="1"/>
              <a:t>Operacionalizar</a:t>
            </a:r>
            <a:r>
              <a:rPr dirty="0"/>
              <a:t> score de </a:t>
            </a:r>
            <a:r>
              <a:rPr dirty="0" err="1"/>
              <a:t>risco</a:t>
            </a:r>
            <a:endParaRPr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/>
              <a:t>Usar </a:t>
            </a:r>
            <a:r>
              <a:rPr dirty="0" err="1"/>
              <a:t>previsão</a:t>
            </a:r>
            <a:r>
              <a:rPr dirty="0"/>
              <a:t> do NPS no </a:t>
            </a:r>
            <a:r>
              <a:rPr dirty="0" err="1"/>
              <a:t>painel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limiares</a:t>
            </a:r>
            <a:r>
              <a:rPr dirty="0"/>
              <a:t> de </a:t>
            </a:r>
            <a:r>
              <a:rPr dirty="0" err="1"/>
              <a:t>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faixa</a:t>
            </a:r>
            <a:r>
              <a:rPr dirty="0"/>
              <a:t> de </a:t>
            </a:r>
            <a:r>
              <a:rPr dirty="0" err="1"/>
              <a:t>risco</a:t>
            </a:r>
            <a:r>
              <a:rPr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Conectar</a:t>
            </a:r>
            <a:r>
              <a:rPr dirty="0"/>
              <a:t> o score com CRM e </a:t>
            </a:r>
            <a:r>
              <a:rPr dirty="0" err="1"/>
              <a:t>retenção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10. Plano de ação sugerido para 90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291840" cy="3364107"/>
          </a:xfrm>
          <a:prstGeom prst="roundRect">
            <a:avLst/>
          </a:prstGeom>
          <a:solidFill>
            <a:srgbClr val="F7F9FC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29260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F6368"/>
                </a:solidFill>
                <a:latin typeface="Aptos"/>
              </a:defRPr>
            </a:pPr>
            <a:r>
              <a:rPr sz="1400" dirty="0"/>
              <a:t>0–30 </a:t>
            </a:r>
            <a:r>
              <a:rPr sz="1400" dirty="0" err="1"/>
              <a:t>dias</a:t>
            </a:r>
            <a:endParaRPr sz="1400" dirty="0"/>
          </a:p>
          <a:p>
            <a:pPr algn="ctr">
              <a:defRPr sz="1600" b="1">
                <a:solidFill>
                  <a:srgbClr val="2A9D8F"/>
                </a:solidFill>
                <a:latin typeface="Aptos"/>
              </a:defRPr>
            </a:pPr>
            <a:r>
              <a:rPr sz="1400" dirty="0" err="1"/>
              <a:t>Ganhos</a:t>
            </a:r>
            <a:r>
              <a:rPr sz="1400" dirty="0"/>
              <a:t> </a:t>
            </a:r>
            <a:r>
              <a:rPr sz="1400" dirty="0" err="1"/>
              <a:t>rápidos</a:t>
            </a: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Implantar</a:t>
            </a:r>
            <a:r>
              <a:rPr sz="1400" dirty="0"/>
              <a:t> </a:t>
            </a:r>
            <a:r>
              <a:rPr sz="1400" dirty="0" err="1"/>
              <a:t>alertas</a:t>
            </a:r>
            <a:r>
              <a:rPr sz="1400" dirty="0"/>
              <a:t> de </a:t>
            </a:r>
            <a:r>
              <a:rPr sz="1400" dirty="0" err="1"/>
              <a:t>atraso</a:t>
            </a:r>
            <a:r>
              <a:rPr sz="1400" dirty="0"/>
              <a:t> </a:t>
            </a:r>
            <a:r>
              <a:rPr sz="1400" dirty="0" err="1"/>
              <a:t>crítico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Criar</a:t>
            </a:r>
            <a:r>
              <a:rPr sz="1400" dirty="0"/>
              <a:t> fila </a:t>
            </a:r>
            <a:r>
              <a:rPr sz="1400" dirty="0" err="1"/>
              <a:t>prioritária</a:t>
            </a:r>
            <a:r>
              <a:rPr sz="1400" dirty="0"/>
              <a:t> para alto </a:t>
            </a:r>
            <a:r>
              <a:rPr sz="1400" dirty="0" err="1"/>
              <a:t>risco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Dashboard </a:t>
            </a:r>
            <a:r>
              <a:rPr sz="1400" dirty="0" err="1"/>
              <a:t>executivo</a:t>
            </a:r>
            <a:r>
              <a:rPr sz="1400" dirty="0"/>
              <a:t> com NPS e drivers.</a:t>
            </a:r>
          </a:p>
        </p:txBody>
      </p:sp>
      <p:sp>
        <p:nvSpPr>
          <p:cNvPr id="11" name="Chevron 10"/>
          <p:cNvSpPr/>
          <p:nvPr/>
        </p:nvSpPr>
        <p:spPr>
          <a:xfrm>
            <a:off x="4069080" y="3154680"/>
            <a:ext cx="274320" cy="502920"/>
          </a:xfrm>
          <a:prstGeom prst="chevron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80560" y="1325880"/>
            <a:ext cx="3291840" cy="3364107"/>
          </a:xfrm>
          <a:prstGeom prst="roundRect">
            <a:avLst/>
          </a:prstGeom>
          <a:solidFill>
            <a:srgbClr val="F7F9FC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617720" y="1463040"/>
            <a:ext cx="3108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F6368"/>
                </a:solidFill>
                <a:latin typeface="Aptos"/>
              </a:defRPr>
            </a:pPr>
            <a:r>
              <a:rPr sz="1400" dirty="0"/>
              <a:t>31–60 </a:t>
            </a:r>
            <a:r>
              <a:rPr sz="1400" dirty="0" err="1"/>
              <a:t>dias</a:t>
            </a:r>
            <a:endParaRPr sz="1400" dirty="0"/>
          </a:p>
          <a:p>
            <a:pPr algn="ctr">
              <a:defRPr sz="1600" b="1">
                <a:solidFill>
                  <a:srgbClr val="F4A261"/>
                </a:solidFill>
                <a:latin typeface="Aptos"/>
              </a:defRPr>
            </a:pPr>
            <a:r>
              <a:rPr sz="1400" dirty="0"/>
              <a:t>Escala </a:t>
            </a:r>
            <a:r>
              <a:rPr sz="1400" dirty="0" err="1"/>
              <a:t>operacional</a:t>
            </a:r>
            <a:endParaRPr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Score </a:t>
            </a:r>
            <a:r>
              <a:rPr sz="1400" dirty="0" err="1"/>
              <a:t>preditivo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rotina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/>
              <a:t>Playbooks de </a:t>
            </a:r>
            <a:r>
              <a:rPr sz="1400" dirty="0" err="1"/>
              <a:t>ação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faixa</a:t>
            </a:r>
            <a:r>
              <a:rPr sz="1400" dirty="0"/>
              <a:t> de </a:t>
            </a:r>
            <a:r>
              <a:rPr sz="1400" dirty="0" err="1"/>
              <a:t>risco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Acompanhamento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</a:t>
            </a:r>
            <a:r>
              <a:rPr sz="1400" dirty="0" err="1"/>
              <a:t>operação</a:t>
            </a:r>
            <a:r>
              <a:rPr sz="1400" dirty="0"/>
              <a:t>/</a:t>
            </a:r>
            <a:r>
              <a:rPr sz="1400" dirty="0" err="1"/>
              <a:t>região</a:t>
            </a:r>
            <a:r>
              <a:rPr sz="1400" dirty="0"/>
              <a:t>.</a:t>
            </a:r>
          </a:p>
        </p:txBody>
      </p:sp>
      <p:sp>
        <p:nvSpPr>
          <p:cNvPr id="14" name="Chevron 13"/>
          <p:cNvSpPr/>
          <p:nvPr/>
        </p:nvSpPr>
        <p:spPr>
          <a:xfrm>
            <a:off x="7863840" y="3154680"/>
            <a:ext cx="274320" cy="502920"/>
          </a:xfrm>
          <a:prstGeom prst="chevron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75320" y="1325880"/>
            <a:ext cx="3291840" cy="3364107"/>
          </a:xfrm>
          <a:prstGeom prst="roundRect">
            <a:avLst/>
          </a:prstGeom>
          <a:solidFill>
            <a:srgbClr val="F7F9FC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0" y="1463040"/>
            <a:ext cx="29260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F6368"/>
                </a:solidFill>
                <a:latin typeface="Aptos"/>
              </a:defRPr>
            </a:pPr>
            <a:r>
              <a:rPr sz="1400" dirty="0"/>
              <a:t>61–90 </a:t>
            </a:r>
            <a:r>
              <a:rPr sz="1400" dirty="0" err="1"/>
              <a:t>dias</a:t>
            </a:r>
            <a:endParaRPr sz="1400" dirty="0"/>
          </a:p>
          <a:p>
            <a:pPr algn="ctr">
              <a:defRPr sz="1600" b="1">
                <a:solidFill>
                  <a:srgbClr val="4CAF50"/>
                </a:solidFill>
                <a:latin typeface="Aptos"/>
              </a:defRPr>
            </a:pPr>
            <a:r>
              <a:rPr sz="1400" dirty="0" err="1"/>
              <a:t>Gestão</a:t>
            </a:r>
            <a:r>
              <a:rPr sz="1400" dirty="0"/>
              <a:t> </a:t>
            </a:r>
            <a:r>
              <a:rPr sz="1400" dirty="0" err="1"/>
              <a:t>orientada</a:t>
            </a:r>
            <a:r>
              <a:rPr sz="1400" dirty="0"/>
              <a:t> </a:t>
            </a:r>
            <a:r>
              <a:rPr sz="1400" dirty="0" err="1"/>
              <a:t>por</a:t>
            </a:r>
            <a:r>
              <a:rPr sz="1400" dirty="0"/>
              <a:t> dados</a:t>
            </a:r>
          </a:p>
          <a:p>
            <a:pPr algn="ctr"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endParaRPr lang="pt-BR" sz="1400"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lang="pt-BR" sz="1400" dirty="0"/>
              <a:t>M</a:t>
            </a:r>
            <a:r>
              <a:rPr sz="1400" dirty="0" err="1"/>
              <a:t>edição</a:t>
            </a:r>
            <a:r>
              <a:rPr sz="1400" dirty="0"/>
              <a:t> de </a:t>
            </a:r>
            <a:r>
              <a:rPr sz="1400" dirty="0" err="1"/>
              <a:t>impacto</a:t>
            </a:r>
            <a:r>
              <a:rPr sz="1400" dirty="0"/>
              <a:t> </a:t>
            </a:r>
            <a:r>
              <a:rPr sz="1400" dirty="0" err="1"/>
              <a:t>sobre</a:t>
            </a:r>
            <a:r>
              <a:rPr sz="1400" dirty="0"/>
              <a:t> NPS e </a:t>
            </a:r>
            <a:r>
              <a:rPr sz="1400" dirty="0" err="1"/>
              <a:t>recompra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Revisão</a:t>
            </a:r>
            <a:r>
              <a:rPr sz="1400" dirty="0"/>
              <a:t> de SLA e </a:t>
            </a:r>
            <a:r>
              <a:rPr sz="1400" dirty="0" err="1"/>
              <a:t>metas</a:t>
            </a:r>
            <a:r>
              <a:rPr sz="1400" dirty="0"/>
              <a:t> </a:t>
            </a:r>
            <a:r>
              <a:rPr sz="1400" dirty="0" err="1"/>
              <a:t>operacionais</a:t>
            </a:r>
            <a:r>
              <a:rPr sz="1400" dirty="0"/>
              <a:t>.</a:t>
            </a:r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sz="1400" dirty="0" err="1"/>
              <a:t>Governança</a:t>
            </a:r>
            <a:r>
              <a:rPr sz="1400" dirty="0"/>
              <a:t> </a:t>
            </a:r>
            <a:r>
              <a:rPr sz="1400" dirty="0" err="1"/>
              <a:t>contínua</a:t>
            </a:r>
            <a:r>
              <a:rPr sz="1400" dirty="0"/>
              <a:t> do </a:t>
            </a:r>
            <a:r>
              <a:rPr sz="1400" dirty="0" err="1"/>
              <a:t>modelo</a:t>
            </a:r>
            <a:r>
              <a:rPr sz="1400"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897880"/>
            <a:ext cx="10515600" cy="667512"/>
          </a:xfrm>
          <a:prstGeom prst="roundRect">
            <a:avLst/>
          </a:prstGeom>
          <a:solidFill>
            <a:srgbClr val="F7F9FC"/>
          </a:solidFill>
          <a:ln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" y="5989320"/>
            <a:ext cx="10259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1B2A"/>
                </a:solidFill>
                <a:latin typeface="Aptos"/>
              </a:defRPr>
            </a:pP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esperado</a:t>
            </a:r>
            <a:endParaRPr dirty="0"/>
          </a:p>
          <a:p>
            <a:pPr>
              <a:defRPr sz="1200" b="0">
                <a:solidFill>
                  <a:srgbClr val="212529"/>
                </a:solidFill>
                <a:latin typeface="Aptos"/>
              </a:defRPr>
            </a:pPr>
            <a:r>
              <a:rPr dirty="0"/>
              <a:t>Sair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gestão</a:t>
            </a:r>
            <a:r>
              <a:rPr dirty="0"/>
              <a:t> </a:t>
            </a:r>
            <a:r>
              <a:rPr dirty="0" err="1"/>
              <a:t>reativa</a:t>
            </a:r>
            <a:r>
              <a:rPr dirty="0"/>
              <a:t> do NPS para um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prevenção</a:t>
            </a:r>
            <a:r>
              <a:rPr dirty="0"/>
              <a:t> e </a:t>
            </a:r>
            <a:r>
              <a:rPr dirty="0" err="1"/>
              <a:t>ação</a:t>
            </a:r>
            <a:r>
              <a:rPr dirty="0"/>
              <a:t>, com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satisfação</a:t>
            </a:r>
            <a:r>
              <a:rPr dirty="0"/>
              <a:t>, </a:t>
            </a:r>
            <a:r>
              <a:rPr dirty="0" err="1"/>
              <a:t>retenção</a:t>
            </a:r>
            <a:r>
              <a:rPr dirty="0"/>
              <a:t> e </a:t>
            </a:r>
            <a:r>
              <a:rPr dirty="0" err="1"/>
              <a:t>eficiência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7772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rPr dirty="0"/>
              <a:t>11. </a:t>
            </a:r>
            <a:r>
              <a:rPr lang="pt-BR" dirty="0"/>
              <a:t>Conclusões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366760" y="146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CE6F0"/>
                </a:solidFill>
                <a:latin typeface="Aptos"/>
              </a:defRPr>
            </a:pPr>
            <a:r>
              <a:t>Apresentação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368"/>
                </a:solidFill>
                <a:latin typeface="Aptos"/>
              </a:defRPr>
            </a:pPr>
            <a:r>
              <a:t>Case NPS Preditivo | Augusto Silva • Cientista de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836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F636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051560"/>
            <a:ext cx="10607040" cy="3849624"/>
          </a:xfrm>
          <a:prstGeom prst="roundRect">
            <a:avLst/>
          </a:prstGeom>
          <a:solidFill>
            <a:srgbClr val="F7F9FC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1417320"/>
            <a:ext cx="100584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D1B2A"/>
                </a:solidFill>
                <a:latin typeface="Aptos Display"/>
              </a:defRPr>
            </a:pPr>
            <a:r>
              <a:rPr dirty="0" err="1"/>
              <a:t>Conclusão</a:t>
            </a:r>
            <a:r>
              <a:rPr dirty="0"/>
              <a:t> principal</a:t>
            </a:r>
          </a:p>
          <a:p>
            <a:pPr>
              <a:defRPr sz="16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600" b="0">
                <a:solidFill>
                  <a:srgbClr val="212529"/>
                </a:solidFill>
                <a:latin typeface="Aptos"/>
              </a:defRPr>
            </a:pPr>
            <a:endParaRPr lang="pt-BR" dirty="0"/>
          </a:p>
          <a:p>
            <a:pPr>
              <a:defRPr sz="1600" b="0">
                <a:solidFill>
                  <a:srgbClr val="212529"/>
                </a:solidFill>
                <a:latin typeface="Aptos"/>
              </a:defRPr>
            </a:pPr>
            <a:r>
              <a:rPr dirty="0" err="1"/>
              <a:t>Os</a:t>
            </a:r>
            <a:r>
              <a:rPr dirty="0"/>
              <a:t> dados </a:t>
            </a:r>
            <a:r>
              <a:rPr dirty="0" err="1"/>
              <a:t>mostram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a </a:t>
            </a:r>
            <a:r>
              <a:rPr dirty="0" err="1"/>
              <a:t>deterioração</a:t>
            </a:r>
            <a:r>
              <a:rPr dirty="0"/>
              <a:t> do NPS é </a:t>
            </a:r>
            <a:r>
              <a:rPr dirty="0" err="1"/>
              <a:t>explicável</a:t>
            </a:r>
            <a:r>
              <a:rPr dirty="0"/>
              <a:t> e </a:t>
            </a:r>
            <a:r>
              <a:rPr dirty="0" err="1"/>
              <a:t>previsível</a:t>
            </a:r>
            <a:r>
              <a:rPr dirty="0"/>
              <a:t>.</a:t>
            </a:r>
          </a:p>
          <a:p>
            <a:pPr>
              <a:defRPr sz="1500" b="0">
                <a:solidFill>
                  <a:srgbClr val="212529"/>
                </a:solidFill>
                <a:latin typeface="Aptos"/>
              </a:defRPr>
            </a:pPr>
            <a:r>
              <a:rPr dirty="0"/>
              <a:t>O </a:t>
            </a:r>
            <a:r>
              <a:rPr dirty="0" err="1"/>
              <a:t>maior</a:t>
            </a:r>
            <a:r>
              <a:rPr dirty="0"/>
              <a:t> </a:t>
            </a:r>
            <a:r>
              <a:rPr dirty="0" err="1"/>
              <a:t>fator</a:t>
            </a:r>
            <a:r>
              <a:rPr dirty="0"/>
              <a:t> de </a:t>
            </a:r>
            <a:r>
              <a:rPr dirty="0" err="1"/>
              <a:t>destruição</a:t>
            </a:r>
            <a:r>
              <a:rPr dirty="0"/>
              <a:t> de </a:t>
            </a:r>
            <a:r>
              <a:rPr dirty="0" err="1"/>
              <a:t>satisfação</a:t>
            </a:r>
            <a:r>
              <a:rPr dirty="0"/>
              <a:t> é o </a:t>
            </a:r>
            <a:r>
              <a:rPr dirty="0" err="1"/>
              <a:t>atraso</a:t>
            </a:r>
            <a:r>
              <a:rPr dirty="0"/>
              <a:t> de </a:t>
            </a:r>
            <a:r>
              <a:rPr dirty="0" err="1"/>
              <a:t>entrega</a:t>
            </a:r>
            <a:r>
              <a:rPr dirty="0"/>
              <a:t> — </a:t>
            </a:r>
            <a:r>
              <a:rPr dirty="0" err="1"/>
              <a:t>especialmente</a:t>
            </a:r>
            <a:r>
              <a:rPr dirty="0"/>
              <a:t> </a:t>
            </a:r>
            <a:r>
              <a:rPr dirty="0" err="1"/>
              <a:t>acima</a:t>
            </a:r>
            <a:r>
              <a:rPr dirty="0"/>
              <a:t> de 2 </a:t>
            </a:r>
            <a:r>
              <a:rPr dirty="0" err="1"/>
              <a:t>dias</a:t>
            </a:r>
            <a:r>
              <a:rPr dirty="0"/>
              <a:t> — </a:t>
            </a:r>
            <a:r>
              <a:rPr dirty="0" err="1"/>
              <a:t>agravado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reclamações</a:t>
            </a:r>
            <a:r>
              <a:rPr dirty="0"/>
              <a:t> e </a:t>
            </a:r>
            <a:r>
              <a:rPr dirty="0" err="1"/>
              <a:t>múltiplos</a:t>
            </a:r>
            <a:r>
              <a:rPr dirty="0"/>
              <a:t> </a:t>
            </a:r>
            <a:r>
              <a:rPr dirty="0" err="1"/>
              <a:t>contatos</a:t>
            </a:r>
            <a:r>
              <a:rPr dirty="0"/>
              <a:t> com o </a:t>
            </a:r>
            <a:r>
              <a:rPr dirty="0" err="1"/>
              <a:t>suporte</a:t>
            </a:r>
            <a:r>
              <a:rPr dirty="0"/>
              <a:t>.</a:t>
            </a:r>
          </a:p>
          <a:p>
            <a:pPr>
              <a:defRPr sz="1500" b="0">
                <a:solidFill>
                  <a:srgbClr val="212529"/>
                </a:solidFill>
                <a:latin typeface="Aptos"/>
              </a:defRPr>
            </a:pPr>
            <a:r>
              <a:rPr dirty="0"/>
              <a:t>A </a:t>
            </a:r>
            <a:r>
              <a:rPr dirty="0" err="1"/>
              <a:t>recomendação</a:t>
            </a:r>
            <a:r>
              <a:rPr dirty="0"/>
              <a:t> </a:t>
            </a:r>
            <a:r>
              <a:rPr dirty="0" err="1"/>
              <a:t>estratégica</a:t>
            </a:r>
            <a:r>
              <a:rPr dirty="0"/>
              <a:t> é simples: </a:t>
            </a:r>
            <a:r>
              <a:rPr dirty="0" err="1"/>
              <a:t>implantar</a:t>
            </a:r>
            <a:r>
              <a:rPr dirty="0"/>
              <a:t> um score </a:t>
            </a:r>
            <a:r>
              <a:rPr dirty="0" err="1"/>
              <a:t>operacional</a:t>
            </a:r>
            <a:r>
              <a:rPr dirty="0"/>
              <a:t> de </a:t>
            </a:r>
            <a:r>
              <a:rPr dirty="0" err="1"/>
              <a:t>risco</a:t>
            </a:r>
            <a:r>
              <a:rPr dirty="0"/>
              <a:t>, </a:t>
            </a:r>
            <a:r>
              <a:rPr dirty="0" err="1"/>
              <a:t>acionar</a:t>
            </a:r>
            <a:r>
              <a:rPr dirty="0"/>
              <a:t> </a:t>
            </a:r>
            <a:r>
              <a:rPr dirty="0" err="1"/>
              <a:t>intervenções</a:t>
            </a:r>
            <a:r>
              <a:rPr dirty="0"/>
              <a:t> </a:t>
            </a:r>
            <a:r>
              <a:rPr dirty="0" err="1"/>
              <a:t>preventivas</a:t>
            </a:r>
            <a:r>
              <a:rPr dirty="0"/>
              <a:t> e </a:t>
            </a:r>
            <a:r>
              <a:rPr dirty="0" err="1"/>
              <a:t>acompanhar</a:t>
            </a:r>
            <a:r>
              <a:rPr dirty="0"/>
              <a:t> </a:t>
            </a:r>
            <a:r>
              <a:rPr dirty="0" err="1"/>
              <a:t>impacto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NPS e </a:t>
            </a:r>
            <a:r>
              <a:rPr dirty="0" err="1"/>
              <a:t>recompra</a:t>
            </a:r>
            <a:r>
              <a:rPr dirty="0"/>
              <a:t>.</a:t>
            </a:r>
          </a:p>
          <a:p>
            <a:pPr>
              <a:defRPr sz="1600" b="1">
                <a:solidFill>
                  <a:srgbClr val="2A9D8F"/>
                </a:solidFill>
                <a:latin typeface="Aptos"/>
              </a:defRPr>
            </a:pPr>
            <a:endParaRPr lang="pt-BR" dirty="0"/>
          </a:p>
          <a:p>
            <a:pPr>
              <a:defRPr sz="1600" b="1">
                <a:solidFill>
                  <a:srgbClr val="2A9D8F"/>
                </a:solidFill>
                <a:latin typeface="Aptos"/>
              </a:defRPr>
            </a:pPr>
            <a:endParaRPr lang="pt-BR" dirty="0"/>
          </a:p>
          <a:p>
            <a:pPr>
              <a:defRPr sz="1600" b="1">
                <a:solidFill>
                  <a:srgbClr val="2A9D8F"/>
                </a:solidFill>
                <a:latin typeface="Aptos"/>
              </a:defRPr>
            </a:pPr>
            <a:endParaRPr lang="pt-BR" dirty="0"/>
          </a:p>
          <a:p>
            <a:pPr>
              <a:defRPr sz="1600" b="1">
                <a:solidFill>
                  <a:srgbClr val="2A9D8F"/>
                </a:solidFill>
                <a:latin typeface="Aptos"/>
              </a:defRPr>
            </a:pPr>
            <a:r>
              <a:rPr dirty="0"/>
              <a:t>Em </a:t>
            </a:r>
            <a:r>
              <a:rPr dirty="0" err="1"/>
              <a:t>resumo</a:t>
            </a:r>
            <a:r>
              <a:rPr dirty="0"/>
              <a:t>: </a:t>
            </a:r>
            <a:r>
              <a:rPr dirty="0" err="1"/>
              <a:t>há</a:t>
            </a:r>
            <a:r>
              <a:rPr dirty="0"/>
              <a:t> </a:t>
            </a:r>
            <a:r>
              <a:rPr dirty="0" err="1"/>
              <a:t>espaço</a:t>
            </a:r>
            <a:r>
              <a:rPr dirty="0"/>
              <a:t> claro para converter dados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ação</a:t>
            </a:r>
            <a:r>
              <a:rPr dirty="0"/>
              <a:t> e </a:t>
            </a:r>
            <a:r>
              <a:rPr dirty="0" err="1"/>
              <a:t>ação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melhoria</a:t>
            </a:r>
            <a:r>
              <a:rPr dirty="0"/>
              <a:t> de </a:t>
            </a:r>
            <a:r>
              <a:rPr dirty="0" err="1"/>
              <a:t>resultado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760720"/>
            <a:ext cx="685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1B2A"/>
                </a:solidFill>
                <a:latin typeface="Aptos"/>
              </a:defRPr>
            </a:pPr>
            <a:r>
              <a:rPr dirty="0" err="1"/>
              <a:t>Obrigado</a:t>
            </a:r>
            <a:r>
              <a:rPr dirty="0"/>
              <a:t>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57790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F6368"/>
                </a:solidFill>
                <a:latin typeface="Aptos"/>
              </a:defRPr>
            </a:pPr>
            <a:r>
              <a:t>Augusto Silva | Cientista de Dados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1199</Words>
  <Application>Microsoft Office PowerPoint</Application>
  <PresentationFormat>Widescreen</PresentationFormat>
  <Paragraphs>251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Augusto Silva</dc:creator>
  <cp:keywords/>
  <dc:description>generated using python-pptx</dc:description>
  <cp:lastModifiedBy>Augusto Silva</cp:lastModifiedBy>
  <cp:revision>3</cp:revision>
  <dcterms:created xsi:type="dcterms:W3CDTF">2013-01-27T09:14:16Z</dcterms:created>
  <dcterms:modified xsi:type="dcterms:W3CDTF">2026-05-06T00:28:22Z</dcterms:modified>
  <cp:category/>
</cp:coreProperties>
</file>